
<file path=[Content_Types].xml><?xml version="1.0" encoding="utf-8"?>
<Types xmlns="http://schemas.openxmlformats.org/package/2006/content-types">
  <Default Extension="png" ContentType="image/png"/>
  <Default Extension="jfif" ContentType="image/jpeg"/>
  <Default Extension="webp"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handoutMasterIdLst>
    <p:handoutMasterId r:id="rId42"/>
  </p:handoutMasterIdLst>
  <p:sldIdLst>
    <p:sldId id="270" r:id="rId2"/>
    <p:sldId id="269" r:id="rId3"/>
    <p:sldId id="259" r:id="rId4"/>
    <p:sldId id="271" r:id="rId5"/>
    <p:sldId id="263" r:id="rId6"/>
    <p:sldId id="262"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90" r:id="rId20"/>
    <p:sldId id="284" r:id="rId21"/>
    <p:sldId id="285" r:id="rId22"/>
    <p:sldId id="286" r:id="rId23"/>
    <p:sldId id="287" r:id="rId24"/>
    <p:sldId id="288" r:id="rId25"/>
    <p:sldId id="291" r:id="rId26"/>
    <p:sldId id="292" r:id="rId27"/>
    <p:sldId id="265" r:id="rId28"/>
    <p:sldId id="289" r:id="rId29"/>
    <p:sldId id="266" r:id="rId30"/>
    <p:sldId id="293" r:id="rId31"/>
    <p:sldId id="294" r:id="rId32"/>
    <p:sldId id="295" r:id="rId33"/>
    <p:sldId id="296" r:id="rId34"/>
    <p:sldId id="297" r:id="rId35"/>
    <p:sldId id="298" r:id="rId36"/>
    <p:sldId id="267" r:id="rId37"/>
    <p:sldId id="268" r:id="rId38"/>
    <p:sldId id="299" r:id="rId39"/>
    <p:sldId id="258" r:id="rId4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2074" autoAdjust="0"/>
  </p:normalViewPr>
  <p:slideViewPr>
    <p:cSldViewPr snapToGrid="0" snapToObjects="1" showGuides="1">
      <p:cViewPr varScale="1">
        <p:scale>
          <a:sx n="88" d="100"/>
          <a:sy n="88" d="100"/>
        </p:scale>
        <p:origin x="1123" y="77"/>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DF6B2F8-E390-BD4F-9ACD-789C35D23CE3}" type="datetimeFigureOut">
              <a:rPr lang="en-US" smtClean="0"/>
              <a:t>5/2/2021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D0A0C1-BF67-B440-B7AD-B68AAB032928}" type="slidenum">
              <a:rPr lang="en-US" smtClean="0"/>
              <a:t>‹#›</a:t>
            </a:fld>
            <a:endParaRPr lang="en-US"/>
          </a:p>
        </p:txBody>
      </p:sp>
    </p:spTree>
    <p:extLst>
      <p:ext uri="{BB962C8B-B14F-4D97-AF65-F5344CB8AC3E}">
        <p14:creationId xmlns:p14="http://schemas.microsoft.com/office/powerpoint/2010/main" val="5220041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FF8F81-D7B9-424E-B993-6D09B3871A4E}" type="datetimeFigureOut">
              <a:rPr lang="en-US" smtClean="0"/>
              <a:t>5/2/2021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3067B3-3AE6-DD4A-9E3D-C999AB3971A1}" type="slidenum">
              <a:rPr lang="en-US" smtClean="0"/>
              <a:t>‹#›</a:t>
            </a:fld>
            <a:endParaRPr lang="en-US"/>
          </a:p>
        </p:txBody>
      </p:sp>
    </p:spTree>
    <p:extLst>
      <p:ext uri="{BB962C8B-B14F-4D97-AF65-F5344CB8AC3E}">
        <p14:creationId xmlns:p14="http://schemas.microsoft.com/office/powerpoint/2010/main" val="86950464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allaboutcircuits.com/technical-articles/i2c-design-mathematics-capacitance-and-resistance/"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3067B3-3AE6-DD4A-9E3D-C999AB3971A1}" type="slidenum">
              <a:rPr lang="en-US" smtClean="0"/>
              <a:t>2</a:t>
            </a:fld>
            <a:endParaRPr lang="en-US"/>
          </a:p>
        </p:txBody>
      </p:sp>
    </p:spTree>
    <p:extLst>
      <p:ext uri="{BB962C8B-B14F-4D97-AF65-F5344CB8AC3E}">
        <p14:creationId xmlns:p14="http://schemas.microsoft.com/office/powerpoint/2010/main" val="3713792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Assume that we are members</a:t>
            </a:r>
            <a:r>
              <a:rPr lang="en-GB" baseline="0" dirty="0" smtClean="0"/>
              <a:t> of NXP semiconductor solution team, we received customer requirements about a “new” communication protocol with following functionalities:</a:t>
            </a:r>
          </a:p>
          <a:p>
            <a:pPr marL="171450" indent="-171450">
              <a:buFontTx/>
              <a:buChar char="-"/>
            </a:pPr>
            <a:r>
              <a:rPr lang="en-GB" baseline="0" dirty="0" smtClean="0"/>
              <a:t>It is serial and synchronous communication</a:t>
            </a:r>
          </a:p>
          <a:p>
            <a:pPr marL="171450" indent="-171450">
              <a:buFontTx/>
              <a:buChar char="-"/>
            </a:pPr>
            <a:r>
              <a:rPr lang="en-GB" baseline="0" dirty="0" smtClean="0"/>
              <a:t>It has minimum number of wire connection (2 wires like UART)</a:t>
            </a:r>
          </a:p>
          <a:p>
            <a:pPr marL="171450" indent="-171450">
              <a:buFontTx/>
              <a:buChar char="-"/>
            </a:pPr>
            <a:r>
              <a:rPr lang="en-GB" baseline="0" dirty="0" smtClean="0"/>
              <a:t>It can support large number of nodes on a PCB (MCU, sensor, external memory: flash, </a:t>
            </a:r>
            <a:r>
              <a:rPr lang="en-GB" baseline="0" dirty="0" err="1" smtClean="0"/>
              <a:t>eeprom</a:t>
            </a:r>
            <a:r>
              <a:rPr lang="en-GB" baseline="0" dirty="0" smtClean="0"/>
              <a:t>…)</a:t>
            </a:r>
          </a:p>
          <a:p>
            <a:pPr marL="171450" indent="-171450">
              <a:buFontTx/>
              <a:buChar char="-"/>
            </a:pPr>
            <a:r>
              <a:rPr lang="en-GB" baseline="0" dirty="0" smtClean="0"/>
              <a:t>It has multiple-masters and multiple-slaves</a:t>
            </a:r>
          </a:p>
          <a:p>
            <a:pPr marL="171450" indent="-171450">
              <a:buFontTx/>
              <a:buChar char="-"/>
            </a:pPr>
            <a:r>
              <a:rPr lang="en-GB" baseline="0" dirty="0" smtClean="0"/>
              <a:t>It supports switching device role of nodes in run-time: master to slave or slave to master</a:t>
            </a:r>
          </a:p>
          <a:p>
            <a:pPr marL="171450" indent="-171450">
              <a:buFontTx/>
              <a:buChar char="-"/>
            </a:pPr>
            <a:r>
              <a:rPr lang="en-GB" baseline="0" dirty="0" smtClean="0"/>
              <a:t>It has handshake mechanism</a:t>
            </a:r>
          </a:p>
          <a:p>
            <a:pPr marL="0" indent="0">
              <a:buFontTx/>
              <a:buNone/>
            </a:pPr>
            <a:r>
              <a:rPr lang="en-GB" baseline="0" dirty="0" smtClean="0"/>
              <a:t>We don’t have requirements about speed and range of connection wire: can be low speed and short-range wires</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6</a:t>
            </a:fld>
            <a:endParaRPr lang="en-US"/>
          </a:p>
        </p:txBody>
      </p:sp>
    </p:spTree>
    <p:extLst>
      <p:ext uri="{BB962C8B-B14F-4D97-AF65-F5344CB8AC3E}">
        <p14:creationId xmlns:p14="http://schemas.microsoft.com/office/powerpoint/2010/main" val="3548376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 had</a:t>
            </a:r>
            <a:r>
              <a:rPr lang="en-GB" baseline="0" dirty="0" smtClean="0"/>
              <a:t> 2 existing communication protocols: UART and SPI. Compare with the requirements</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7</a:t>
            </a:fld>
            <a:endParaRPr lang="en-US"/>
          </a:p>
        </p:txBody>
      </p:sp>
    </p:spTree>
    <p:extLst>
      <p:ext uri="{BB962C8B-B14F-4D97-AF65-F5344CB8AC3E}">
        <p14:creationId xmlns:p14="http://schemas.microsoft.com/office/powerpoint/2010/main" val="2847078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smtClean="0"/>
              <a:t>Slave receive</a:t>
            </a:r>
            <a:r>
              <a:rPr lang="en-GB" baseline="0" dirty="0" smtClean="0"/>
              <a:t>s clock and command from master, master sends clock, command and receives response from slave</a:t>
            </a:r>
          </a:p>
          <a:p>
            <a:pPr marL="171450" indent="-171450">
              <a:buFontTx/>
              <a:buChar char="-"/>
            </a:pPr>
            <a:r>
              <a:rPr lang="en-GB" baseline="0" dirty="0" smtClean="0"/>
              <a:t>Master switches role to slave -&gt; it has to receive clock from another master.</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8</a:t>
            </a:fld>
            <a:endParaRPr lang="en-US"/>
          </a:p>
        </p:txBody>
      </p:sp>
    </p:spTree>
    <p:extLst>
      <p:ext uri="{BB962C8B-B14F-4D97-AF65-F5344CB8AC3E}">
        <p14:creationId xmlns:p14="http://schemas.microsoft.com/office/powerpoint/2010/main" val="3095695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dirty="0" smtClean="0"/>
              <a:t>To</a:t>
            </a:r>
            <a:r>
              <a:rPr lang="en-GB" baseline="0" dirty="0" smtClean="0"/>
              <a:t> support a pin is both input and output, which mode of GPIO should be chosen?</a:t>
            </a:r>
          </a:p>
          <a:p>
            <a:pPr marL="0" indent="0">
              <a:buFontTx/>
              <a:buNone/>
            </a:pP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9</a:t>
            </a:fld>
            <a:endParaRPr lang="en-US"/>
          </a:p>
        </p:txBody>
      </p:sp>
    </p:spTree>
    <p:extLst>
      <p:ext uri="{BB962C8B-B14F-4D97-AF65-F5344CB8AC3E}">
        <p14:creationId xmlns:p14="http://schemas.microsoft.com/office/powerpoint/2010/main" val="2678573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Image that we have 2 masters,</a:t>
            </a:r>
            <a:r>
              <a:rPr lang="en-GB" baseline="0" dirty="0" smtClean="0"/>
              <a:t> and both of them want to send command at the same time, one sends “1” and one sends “0”</a:t>
            </a:r>
          </a:p>
          <a:p>
            <a:r>
              <a:rPr lang="en-GB" baseline="0" dirty="0" smtClean="0"/>
              <a:t>With push-pull mode, </a:t>
            </a:r>
            <a:r>
              <a:rPr lang="en-GB" baseline="0" dirty="0" err="1" smtClean="0"/>
              <a:t>Vdd</a:t>
            </a:r>
            <a:r>
              <a:rPr lang="en-GB" baseline="0" dirty="0" smtClean="0"/>
              <a:t> -&gt; MOSFET (or resistor with small resistance) -&gt; bus -&gt; MOSFET (same) -&gt; Ground =&gt; Cause of short circuit =&gt; damage.</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10</a:t>
            </a:fld>
            <a:endParaRPr lang="en-US"/>
          </a:p>
        </p:txBody>
      </p:sp>
    </p:spTree>
    <p:extLst>
      <p:ext uri="{BB962C8B-B14F-4D97-AF65-F5344CB8AC3E}">
        <p14:creationId xmlns:p14="http://schemas.microsoft.com/office/powerpoint/2010/main" val="4078229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Image that we have 2 masters,</a:t>
            </a:r>
            <a:r>
              <a:rPr lang="en-GB" baseline="0" dirty="0" smtClean="0"/>
              <a:t> and both of them want to send command at the same time, one sends “1” and one sends “0”</a:t>
            </a:r>
          </a:p>
          <a:p>
            <a:r>
              <a:rPr lang="en-GB" baseline="0" dirty="0" smtClean="0"/>
              <a:t>With open-drain mode, </a:t>
            </a:r>
            <a:r>
              <a:rPr lang="en-GB" baseline="0" dirty="0" err="1" smtClean="0"/>
              <a:t>Vdd</a:t>
            </a:r>
            <a:r>
              <a:rPr lang="en-GB" baseline="0" dirty="0" smtClean="0"/>
              <a:t> -&gt; external resister (high resistance) -&gt; bus -&gt; MOSFET (unlock) -&gt; Ground =&gt; OK.</a:t>
            </a:r>
          </a:p>
        </p:txBody>
      </p:sp>
      <p:sp>
        <p:nvSpPr>
          <p:cNvPr id="4" name="Slide Number Placeholder 3"/>
          <p:cNvSpPr>
            <a:spLocks noGrp="1"/>
          </p:cNvSpPr>
          <p:nvPr>
            <p:ph type="sldNum" sz="quarter" idx="10"/>
          </p:nvPr>
        </p:nvSpPr>
        <p:spPr/>
        <p:txBody>
          <a:bodyPr/>
          <a:lstStyle/>
          <a:p>
            <a:fld id="{2B3067B3-3AE6-DD4A-9E3D-C999AB3971A1}" type="slidenum">
              <a:rPr lang="en-US" smtClean="0"/>
              <a:t>11</a:t>
            </a:fld>
            <a:endParaRPr lang="en-US"/>
          </a:p>
        </p:txBody>
      </p:sp>
    </p:spTree>
    <p:extLst>
      <p:ext uri="{BB962C8B-B14F-4D97-AF65-F5344CB8AC3E}">
        <p14:creationId xmlns:p14="http://schemas.microsoft.com/office/powerpoint/2010/main" val="3312641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Image that we have 2 masters,</a:t>
            </a:r>
            <a:r>
              <a:rPr lang="en-GB" baseline="0" dirty="0" smtClean="0"/>
              <a:t> and both of them want to send command at the same time, one sends “1” and one sends “0”</a:t>
            </a:r>
          </a:p>
          <a:p>
            <a:r>
              <a:rPr lang="en-GB" baseline="0" dirty="0" smtClean="0"/>
              <a:t>With open-drain mode, </a:t>
            </a:r>
            <a:r>
              <a:rPr lang="en-GB" baseline="0" dirty="0" err="1" smtClean="0"/>
              <a:t>Vdd</a:t>
            </a:r>
            <a:r>
              <a:rPr lang="en-GB" baseline="0" dirty="0" smtClean="0"/>
              <a:t> -&gt; external resister (high resistance) -&gt; bus -&gt; MOSFET (unlock) -&gt; Ground =&gt; OK.</a:t>
            </a:r>
          </a:p>
          <a:p>
            <a:r>
              <a:rPr lang="en-GB" baseline="0" dirty="0" smtClean="0"/>
              <a:t>Which master is ignored on the bus? Answer: the master sends “1” (lock the MOSFET). It is called AND-wire.</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12</a:t>
            </a:fld>
            <a:endParaRPr lang="en-US"/>
          </a:p>
        </p:txBody>
      </p:sp>
    </p:spTree>
    <p:extLst>
      <p:ext uri="{BB962C8B-B14F-4D97-AF65-F5344CB8AC3E}">
        <p14:creationId xmlns:p14="http://schemas.microsoft.com/office/powerpoint/2010/main" val="1433415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a:t>
            </a:r>
            <a:r>
              <a:rPr lang="en-GB" baseline="0" dirty="0" smtClean="0"/>
              <a:t> RC circuit, rise time and fall time depend on value of R and C. With larger value of RC, rise and fall time are increased.</a:t>
            </a:r>
          </a:p>
          <a:p>
            <a:r>
              <a:rPr lang="en-GB" baseline="0" dirty="0" smtClean="0"/>
              <a:t>If frequency increases, time of duty cycle decreases, voltage can not reach the logic high or low -&gt; unknown state of communication. </a:t>
            </a:r>
          </a:p>
          <a:p>
            <a:endParaRPr lang="en-GB" baseline="0" dirty="0" smtClean="0"/>
          </a:p>
          <a:p>
            <a:r>
              <a:rPr lang="en-US" dirty="0" smtClean="0">
                <a:hlinkClick r:id="rId3"/>
              </a:rPr>
              <a:t>https://www.allaboutcircuits.com/technical-articles/i2c-design-mathematics-capacitance-and-resistance/</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13</a:t>
            </a:fld>
            <a:endParaRPr lang="en-US"/>
          </a:p>
        </p:txBody>
      </p:sp>
    </p:spTree>
    <p:extLst>
      <p:ext uri="{BB962C8B-B14F-4D97-AF65-F5344CB8AC3E}">
        <p14:creationId xmlns:p14="http://schemas.microsoft.com/office/powerpoint/2010/main" val="3734034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Customers</a:t>
            </a:r>
            <a:r>
              <a:rPr lang="en-GB" baseline="0" dirty="0" smtClean="0"/>
              <a:t> hate this :D</a:t>
            </a:r>
            <a:r>
              <a:rPr lang="en-GB" baseline="0" dirty="0" smtClean="0"/>
              <a:t>. but provider can describe maximum value of resistor</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14</a:t>
            </a:fld>
            <a:endParaRPr lang="en-US"/>
          </a:p>
        </p:txBody>
      </p:sp>
    </p:spTree>
    <p:extLst>
      <p:ext uri="{BB962C8B-B14F-4D97-AF65-F5344CB8AC3E}">
        <p14:creationId xmlns:p14="http://schemas.microsoft.com/office/powerpoint/2010/main" val="1241327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smtClean="0">
                <a:solidFill>
                  <a:schemeClr val="tx1"/>
                </a:solidFill>
                <a:effectLst/>
                <a:latin typeface="+mn-lt"/>
                <a:ea typeface="+mn-ea"/>
                <a:cs typeface="+mn-cs"/>
              </a:rPr>
              <a:t>a </a:t>
            </a:r>
            <a:r>
              <a:rPr lang="en-GB" sz="1200" b="1" i="0" kern="1200" dirty="0" smtClean="0">
                <a:solidFill>
                  <a:schemeClr val="tx1"/>
                </a:solidFill>
                <a:effectLst/>
                <a:latin typeface="+mn-lt"/>
                <a:ea typeface="+mn-ea"/>
                <a:cs typeface="+mn-cs"/>
              </a:rPr>
              <a:t>handshake</a:t>
            </a:r>
            <a:r>
              <a:rPr lang="en-GB" sz="1200" b="0" i="0" kern="1200" dirty="0" smtClean="0">
                <a:solidFill>
                  <a:schemeClr val="tx1"/>
                </a:solidFill>
                <a:effectLst/>
                <a:latin typeface="+mn-lt"/>
                <a:ea typeface="+mn-ea"/>
                <a:cs typeface="+mn-cs"/>
              </a:rPr>
              <a:t> is an automated process of negotiation between two participants through the exchange of information that establishes the protocols of a communication link at the start of the communication, before full communication begins</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15</a:t>
            </a:fld>
            <a:endParaRPr lang="en-US"/>
          </a:p>
        </p:txBody>
      </p:sp>
    </p:spTree>
    <p:extLst>
      <p:ext uri="{BB962C8B-B14F-4D97-AF65-F5344CB8AC3E}">
        <p14:creationId xmlns:p14="http://schemas.microsoft.com/office/powerpoint/2010/main" val="1782488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With all characteristics</a:t>
            </a:r>
            <a:r>
              <a:rPr lang="en-GB" baseline="0" dirty="0" smtClean="0"/>
              <a:t> mentioned in previous slides, we have I2C stands for inter integrated circuit</a:t>
            </a:r>
          </a:p>
          <a:p>
            <a:r>
              <a:rPr lang="en-GB" dirty="0" smtClean="0"/>
              <a:t>• I2C bus = Inter-IC bus </a:t>
            </a:r>
          </a:p>
          <a:p>
            <a:r>
              <a:rPr lang="en-GB" dirty="0" smtClean="0"/>
              <a:t>• Bus developed by Philips in the 80’s</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18</a:t>
            </a:fld>
            <a:endParaRPr lang="en-US"/>
          </a:p>
        </p:txBody>
      </p:sp>
    </p:spTree>
    <p:extLst>
      <p:ext uri="{BB962C8B-B14F-4D97-AF65-F5344CB8AC3E}">
        <p14:creationId xmlns:p14="http://schemas.microsoft.com/office/powerpoint/2010/main" val="38214877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With all characteristics</a:t>
            </a:r>
            <a:r>
              <a:rPr lang="en-GB" baseline="0" dirty="0" smtClean="0"/>
              <a:t> mentioned in previous slides, we have I2C stands for inter integrated circuit</a:t>
            </a:r>
          </a:p>
          <a:p>
            <a:r>
              <a:rPr lang="en-GB" dirty="0" smtClean="0"/>
              <a:t>• I2C bus = Inter-IC bus </a:t>
            </a:r>
          </a:p>
          <a:p>
            <a:r>
              <a:rPr lang="en-GB" dirty="0" smtClean="0"/>
              <a:t>• Bus developed by Philips in the 80’s</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19</a:t>
            </a:fld>
            <a:endParaRPr lang="en-US"/>
          </a:p>
        </p:txBody>
      </p:sp>
    </p:spTree>
    <p:extLst>
      <p:ext uri="{BB962C8B-B14F-4D97-AF65-F5344CB8AC3E}">
        <p14:creationId xmlns:p14="http://schemas.microsoft.com/office/powerpoint/2010/main" val="2735976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smtClean="0">
                <a:solidFill>
                  <a:schemeClr val="tx1"/>
                </a:solidFill>
                <a:effectLst/>
                <a:latin typeface="+mn-lt"/>
                <a:ea typeface="+mn-ea"/>
                <a:cs typeface="+mn-cs"/>
              </a:rPr>
              <a:t>The data on the SDA line must be stable during the HIGH period of the clock. The HIGH or LOW state of the data line can only change when the clock signal on the SCL line is LOW. One clock pulse is generated for each data bit transferred.</a:t>
            </a:r>
            <a:r>
              <a:rPr lang="en-GB" dirty="0" smtClean="0"/>
              <a:t> </a:t>
            </a:r>
            <a:br>
              <a:rPr lang="en-GB" dirty="0" smtClean="0"/>
            </a:b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20</a:t>
            </a:fld>
            <a:endParaRPr lang="en-US"/>
          </a:p>
        </p:txBody>
      </p:sp>
    </p:spTree>
    <p:extLst>
      <p:ext uri="{BB962C8B-B14F-4D97-AF65-F5344CB8AC3E}">
        <p14:creationId xmlns:p14="http://schemas.microsoft.com/office/powerpoint/2010/main" val="20987117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smtClean="0">
                <a:solidFill>
                  <a:schemeClr val="tx1"/>
                </a:solidFill>
                <a:effectLst/>
                <a:latin typeface="+mn-lt"/>
                <a:ea typeface="+mn-ea"/>
                <a:cs typeface="+mn-cs"/>
              </a:rPr>
              <a:t>All transactions begin with a START (S) and are terminated by a STOP (P).</a:t>
            </a:r>
            <a:r>
              <a:rPr lang="en-GB" sz="1200" b="0" i="0" kern="1200" baseline="0" dirty="0" smtClean="0">
                <a:solidFill>
                  <a:schemeClr val="tx1"/>
                </a:solidFill>
                <a:effectLst/>
                <a:latin typeface="+mn-lt"/>
                <a:ea typeface="+mn-ea"/>
                <a:cs typeface="+mn-cs"/>
              </a:rPr>
              <a:t> </a:t>
            </a:r>
            <a:r>
              <a:rPr lang="en-GB" sz="1200" b="0" i="0" kern="1200" dirty="0" smtClean="0">
                <a:solidFill>
                  <a:schemeClr val="tx1"/>
                </a:solidFill>
                <a:effectLst/>
                <a:latin typeface="+mn-lt"/>
                <a:ea typeface="+mn-ea"/>
                <a:cs typeface="+mn-cs"/>
              </a:rPr>
              <a:t>A HIGH to LOW transition on the SDA line while SCL is HIGH defines a START condition.</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A LOW to HIGH transition on the SDA line while SCL is HIGH defines a STOP condition.</a:t>
            </a:r>
            <a:r>
              <a:rPr lang="en-GB" dirty="0" smtClean="0"/>
              <a:t> </a:t>
            </a:r>
            <a:r>
              <a:rPr lang="en-GB" sz="1200" b="0" i="0" kern="1200" dirty="0" smtClean="0">
                <a:solidFill>
                  <a:schemeClr val="tx1"/>
                </a:solidFill>
                <a:effectLst/>
                <a:latin typeface="+mn-lt"/>
                <a:ea typeface="+mn-ea"/>
                <a:cs typeface="+mn-cs"/>
              </a:rPr>
              <a:t>START and STOP conditions are always generated by the master. The bus is considered</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to be busy after the START condition. The bus is considered to be free again a certain time after the STOP condition. This bus free situation is specified in Section 6.</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The bus stays busy if a repeated START (</a:t>
            </a:r>
            <a:r>
              <a:rPr lang="en-GB" sz="1200" b="0" i="0" kern="1200" dirty="0" err="1" smtClean="0">
                <a:solidFill>
                  <a:schemeClr val="tx1"/>
                </a:solidFill>
                <a:effectLst/>
                <a:latin typeface="+mn-lt"/>
                <a:ea typeface="+mn-ea"/>
                <a:cs typeface="+mn-cs"/>
              </a:rPr>
              <a:t>Sr</a:t>
            </a:r>
            <a:r>
              <a:rPr lang="en-GB" sz="1200" b="0" i="0" kern="1200" dirty="0" smtClean="0">
                <a:solidFill>
                  <a:schemeClr val="tx1"/>
                </a:solidFill>
                <a:effectLst/>
                <a:latin typeface="+mn-lt"/>
                <a:ea typeface="+mn-ea"/>
                <a:cs typeface="+mn-cs"/>
              </a:rPr>
              <a:t>) is generated instead of a STOP condition. In this respect, the START (S) and repeated START (</a:t>
            </a:r>
            <a:r>
              <a:rPr lang="en-GB" sz="1200" b="0" i="0" kern="1200" dirty="0" err="1" smtClean="0">
                <a:solidFill>
                  <a:schemeClr val="tx1"/>
                </a:solidFill>
                <a:effectLst/>
                <a:latin typeface="+mn-lt"/>
                <a:ea typeface="+mn-ea"/>
                <a:cs typeface="+mn-cs"/>
              </a:rPr>
              <a:t>Sr</a:t>
            </a:r>
            <a:r>
              <a:rPr lang="en-GB" sz="1200" b="0" i="0" kern="1200" dirty="0" smtClean="0">
                <a:solidFill>
                  <a:schemeClr val="tx1"/>
                </a:solidFill>
                <a:effectLst/>
                <a:latin typeface="+mn-lt"/>
                <a:ea typeface="+mn-ea"/>
                <a:cs typeface="+mn-cs"/>
              </a:rPr>
              <a:t>) conditions are functionally identical.</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For the remainder of this document, therefore, the S symbol is used as a generic term to represent both the START and repeated START conditions, unless </a:t>
            </a:r>
            <a:r>
              <a:rPr lang="en-GB" sz="1200" b="0" i="0" kern="1200" dirty="0" err="1" smtClean="0">
                <a:solidFill>
                  <a:schemeClr val="tx1"/>
                </a:solidFill>
                <a:effectLst/>
                <a:latin typeface="+mn-lt"/>
                <a:ea typeface="+mn-ea"/>
                <a:cs typeface="+mn-cs"/>
              </a:rPr>
              <a:t>Sr</a:t>
            </a:r>
            <a:r>
              <a:rPr lang="en-GB" sz="1200" b="0" i="0" kern="1200" dirty="0" smtClean="0">
                <a:solidFill>
                  <a:schemeClr val="tx1"/>
                </a:solidFill>
                <a:effectLst/>
                <a:latin typeface="+mn-lt"/>
                <a:ea typeface="+mn-ea"/>
                <a:cs typeface="+mn-cs"/>
              </a:rPr>
              <a:t> is particularly</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relevant.</a:t>
            </a:r>
            <a:r>
              <a:rPr lang="en-GB" dirty="0" smtClean="0"/>
              <a:t> </a:t>
            </a:r>
            <a:br>
              <a:rPr lang="en-GB" dirty="0" smtClean="0"/>
            </a:b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21</a:t>
            </a:fld>
            <a:endParaRPr lang="en-US"/>
          </a:p>
        </p:txBody>
      </p:sp>
    </p:spTree>
    <p:extLst>
      <p:ext uri="{BB962C8B-B14F-4D97-AF65-F5344CB8AC3E}">
        <p14:creationId xmlns:p14="http://schemas.microsoft.com/office/powerpoint/2010/main" val="31989320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smtClean="0">
                <a:solidFill>
                  <a:schemeClr val="tx1"/>
                </a:solidFill>
                <a:effectLst/>
                <a:latin typeface="+mn-lt"/>
                <a:ea typeface="+mn-ea"/>
                <a:cs typeface="+mn-cs"/>
              </a:rPr>
              <a:t>The Acknowledge signal is defined as follows: the transmitter releases the SDA line during the acknowledge clock pulse so the receiver can pull the SDA line LOW and it</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remains stable LOW during the HIGH period of this clock pulse.</a:t>
            </a:r>
          </a:p>
          <a:p>
            <a:r>
              <a:rPr lang="en-GB" sz="1200" b="0" i="0" kern="1200" dirty="0" smtClean="0">
                <a:solidFill>
                  <a:schemeClr val="tx1"/>
                </a:solidFill>
                <a:effectLst/>
                <a:latin typeface="+mn-lt"/>
                <a:ea typeface="+mn-ea"/>
                <a:cs typeface="+mn-cs"/>
              </a:rPr>
              <a:t>There are five conditions that lead to the generation of a NACK:</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1. No receiver is present on the bus with the transmitted address so there is no device to</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respond with an acknowledge.</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2. The receiver is unable to receive or transmit because it is performing some real-time</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function and is not ready to start communication with the master.</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3. During the transfer, the receiver gets data or commands that it does not understand.</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4. During the transfer, the receiver cannot receive any more data bytes.</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5. A master-receiver must signal the end of the transfer to the slave transmitter.</a:t>
            </a:r>
            <a:r>
              <a:rPr lang="en-GB" dirty="0" smtClean="0"/>
              <a:t> </a:t>
            </a:r>
            <a:br>
              <a:rPr lang="en-GB" dirty="0" smtClean="0"/>
            </a:b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22</a:t>
            </a:fld>
            <a:endParaRPr lang="en-US"/>
          </a:p>
        </p:txBody>
      </p:sp>
    </p:spTree>
    <p:extLst>
      <p:ext uri="{BB962C8B-B14F-4D97-AF65-F5344CB8AC3E}">
        <p14:creationId xmlns:p14="http://schemas.microsoft.com/office/powerpoint/2010/main" val="1894633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1. Bus is free when</a:t>
            </a:r>
            <a:r>
              <a:rPr lang="en-GB" baseline="0" dirty="0" smtClean="0"/>
              <a:t> SCL and SDA are both high.</a:t>
            </a:r>
          </a:p>
          <a:p>
            <a:r>
              <a:rPr lang="en-GB" dirty="0" smtClean="0"/>
              <a:t>2. All other ICs then LISTEN to the bus data to see whether they might be the one who will be called up (addressed). </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25</a:t>
            </a:fld>
            <a:endParaRPr lang="en-US"/>
          </a:p>
        </p:txBody>
      </p:sp>
    </p:spTree>
    <p:extLst>
      <p:ext uri="{BB962C8B-B14F-4D97-AF65-F5344CB8AC3E}">
        <p14:creationId xmlns:p14="http://schemas.microsoft.com/office/powerpoint/2010/main" val="2453744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1" kern="1200" dirty="0" smtClean="0">
                <a:solidFill>
                  <a:schemeClr val="tx1"/>
                </a:solidFill>
                <a:effectLst/>
                <a:latin typeface="+mn-lt"/>
                <a:ea typeface="+mn-ea"/>
                <a:cs typeface="+mn-cs"/>
              </a:rPr>
              <a:t>I2C Bus </a:t>
            </a:r>
            <a:r>
              <a:rPr lang="en-GB" sz="1200" b="1" i="1" kern="1200" dirty="0" err="1" smtClean="0">
                <a:solidFill>
                  <a:schemeClr val="tx1"/>
                </a:solidFill>
                <a:effectLst/>
                <a:latin typeface="+mn-lt"/>
                <a:ea typeface="+mn-ea"/>
                <a:cs typeface="+mn-cs"/>
              </a:rPr>
              <a:t>Pullup</a:t>
            </a:r>
            <a:r>
              <a:rPr lang="en-GB" sz="1200" b="1" i="1" kern="1200" dirty="0" smtClean="0">
                <a:solidFill>
                  <a:schemeClr val="tx1"/>
                </a:solidFill>
                <a:effectLst/>
                <a:latin typeface="+mn-lt"/>
                <a:ea typeface="+mn-ea"/>
                <a:cs typeface="+mn-cs"/>
              </a:rPr>
              <a:t> Resistor Calculation</a:t>
            </a:r>
            <a:r>
              <a:rPr lang="en-GB" dirty="0" smtClean="0"/>
              <a:t> </a:t>
            </a:r>
            <a:br>
              <a:rPr lang="en-GB" dirty="0" smtClean="0"/>
            </a:br>
            <a:r>
              <a:rPr lang="en-US" sz="1200" b="0" i="1" kern="1200" dirty="0" smtClean="0">
                <a:solidFill>
                  <a:schemeClr val="tx1"/>
                </a:solidFill>
                <a:effectLst/>
                <a:latin typeface="+mn-lt"/>
                <a:ea typeface="+mn-ea"/>
                <a:cs typeface="+mn-cs"/>
              </a:rPr>
              <a:t>Application Report</a:t>
            </a:r>
            <a:r>
              <a:rPr lang="en-US" dirty="0" smtClean="0"/>
              <a:t> </a:t>
            </a:r>
            <a:br>
              <a:rPr lang="en-US" dirty="0" smtClean="0"/>
            </a:br>
            <a:r>
              <a:rPr lang="en-US" sz="1200" b="0" i="1" kern="1200" dirty="0" smtClean="0">
                <a:solidFill>
                  <a:schemeClr val="tx1"/>
                </a:solidFill>
                <a:effectLst/>
                <a:latin typeface="+mn-lt"/>
                <a:ea typeface="+mn-ea"/>
                <a:cs typeface="+mn-cs"/>
              </a:rPr>
              <a:t>SLVA689–February 2015</a:t>
            </a:r>
            <a:r>
              <a:rPr lang="en-US" dirty="0" smtClean="0"/>
              <a:t> </a:t>
            </a:r>
            <a:br>
              <a:rPr lang="en-US" dirty="0" smtClean="0"/>
            </a:br>
            <a:r>
              <a:rPr lang="en-US" dirty="0" smtClean="0"/>
              <a:t>Texas </a:t>
            </a:r>
            <a:r>
              <a:rPr lang="en-US" dirty="0" err="1" smtClean="0"/>
              <a:t>Intrusments</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26</a:t>
            </a:fld>
            <a:endParaRPr lang="en-US"/>
          </a:p>
        </p:txBody>
      </p:sp>
    </p:spTree>
    <p:extLst>
      <p:ext uri="{BB962C8B-B14F-4D97-AF65-F5344CB8AC3E}">
        <p14:creationId xmlns:p14="http://schemas.microsoft.com/office/powerpoint/2010/main" val="2549625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General call</a:t>
            </a:r>
            <a:r>
              <a:rPr lang="en-GB" baseline="0" dirty="0" smtClean="0"/>
              <a:t> is:</a:t>
            </a:r>
          </a:p>
          <a:p>
            <a:r>
              <a:rPr lang="en-GB" baseline="0" dirty="0" smtClean="0"/>
              <a:t>Master send address with all bit is 0, all slaves that pre-configured to accept general call will receive this command</a:t>
            </a:r>
          </a:p>
          <a:p>
            <a:r>
              <a:rPr lang="en-GB" baseline="0" dirty="0" smtClean="0"/>
              <a:t>Commands are defined, e.g. reset devices.</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30</a:t>
            </a:fld>
            <a:endParaRPr lang="en-US"/>
          </a:p>
        </p:txBody>
      </p:sp>
    </p:spTree>
    <p:extLst>
      <p:ext uri="{BB962C8B-B14F-4D97-AF65-F5344CB8AC3E}">
        <p14:creationId xmlns:p14="http://schemas.microsoft.com/office/powerpoint/2010/main" val="5203656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3067B3-3AE6-DD4A-9E3D-C999AB3971A1}" type="slidenum">
              <a:rPr lang="en-US" smtClean="0"/>
              <a:t>39</a:t>
            </a:fld>
            <a:endParaRPr lang="en-US"/>
          </a:p>
        </p:txBody>
      </p:sp>
    </p:spTree>
    <p:extLst>
      <p:ext uri="{BB962C8B-B14F-4D97-AF65-F5344CB8AC3E}">
        <p14:creationId xmlns:p14="http://schemas.microsoft.com/office/powerpoint/2010/main" val="6398962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39" y="0"/>
            <a:ext cx="9124122" cy="5143500"/>
          </a:xfrm>
          <a:prstGeom prst="rect">
            <a:avLst/>
          </a:prstGeom>
        </p:spPr>
      </p:pic>
      <p:sp>
        <p:nvSpPr>
          <p:cNvPr id="2" name="Title 1"/>
          <p:cNvSpPr>
            <a:spLocks noGrp="1"/>
          </p:cNvSpPr>
          <p:nvPr>
            <p:ph type="ctrTitle"/>
          </p:nvPr>
        </p:nvSpPr>
        <p:spPr>
          <a:xfrm>
            <a:off x="171450" y="1743789"/>
            <a:ext cx="6179344" cy="678021"/>
          </a:xfrm>
        </p:spPr>
        <p:txBody>
          <a:bodyPr>
            <a:noAutofit/>
          </a:bodyPr>
          <a:lstStyle>
            <a:lvl1pPr algn="l">
              <a:defRPr sz="3200">
                <a:solidFill>
                  <a:srgbClr val="FF6600"/>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71450" y="2571750"/>
            <a:ext cx="6179344" cy="434975"/>
          </a:xfrm>
        </p:spPr>
        <p:txBody>
          <a:bodyPr>
            <a:normAutofit/>
          </a:bodyPr>
          <a:lstStyle>
            <a:lvl1pPr marL="0" indent="0" algn="l">
              <a:buNone/>
              <a:defRPr sz="2000" i="1">
                <a:solidFill>
                  <a:srgbClr val="99CC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171450" y="4767263"/>
            <a:ext cx="1367315" cy="273844"/>
          </a:xfrm>
        </p:spPr>
        <p:txBody>
          <a:bodyPr/>
          <a:lstStyle/>
          <a:p>
            <a:fld id="{63A9D870-3F93-4B8A-8AC9-9D3B4FB155C2}" type="datetime1">
              <a:rPr lang="en-US" smtClean="0"/>
              <a:t>5/2/2021</a:t>
            </a:fld>
            <a:endParaRPr lang="en-US"/>
          </a:p>
        </p:txBody>
      </p:sp>
      <p:sp>
        <p:nvSpPr>
          <p:cNvPr id="5" name="Footer Placeholder 4"/>
          <p:cNvSpPr>
            <a:spLocks noGrp="1"/>
          </p:cNvSpPr>
          <p:nvPr>
            <p:ph type="ftr" sz="quarter" idx="11"/>
          </p:nvPr>
        </p:nvSpPr>
        <p:spPr>
          <a:xfrm>
            <a:off x="1868557" y="4767263"/>
            <a:ext cx="6139587" cy="273844"/>
          </a:xfrm>
        </p:spPr>
        <p:txBody>
          <a:bodyPr/>
          <a:lstStyle/>
          <a:p>
            <a:r>
              <a:rPr lang="en-US" smtClean="0"/>
              <a:t>09e-BM/DT/FSOFT - ©FPT SOFTWARE – Fresher Academy - Internal Use</a:t>
            </a:r>
            <a:endParaRPr lang="en-US" dirty="0"/>
          </a:p>
        </p:txBody>
      </p:sp>
      <p:sp>
        <p:nvSpPr>
          <p:cNvPr id="6" name="Slide Number Placeholder 5"/>
          <p:cNvSpPr>
            <a:spLocks noGrp="1"/>
          </p:cNvSpPr>
          <p:nvPr>
            <p:ph type="sldNum" sz="quarter" idx="12"/>
          </p:nvPr>
        </p:nvSpPr>
        <p:spPr>
          <a:xfrm>
            <a:off x="8122444" y="4767263"/>
            <a:ext cx="564356" cy="273844"/>
          </a:xfrm>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81376006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20" cy="644057"/>
          </a:xfrm>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22626369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76789B-5D05-4E47-B9C1-C0FFAEB67DE3}" type="datetime1">
              <a:rPr lang="en-US" smtClean="0"/>
              <a:t>5/2/2021</a:t>
            </a:fld>
            <a:endParaRPr lang="en-US"/>
          </a:p>
        </p:txBody>
      </p:sp>
      <p:sp>
        <p:nvSpPr>
          <p:cNvPr id="4"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454171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42912" y="3305176"/>
            <a:ext cx="8458199" cy="1021556"/>
          </a:xfrm>
        </p:spPr>
        <p:txBody>
          <a:bodyPr anchor="t"/>
          <a:lstStyle>
            <a:lvl1pPr algn="l">
              <a:defRPr sz="3200" b="1" cap="all">
                <a:solidFill>
                  <a:schemeClr val="accent6">
                    <a:lumMod val="75000"/>
                  </a:schemeClr>
                </a:solidFill>
              </a:defRPr>
            </a:lvl1pPr>
          </a:lstStyle>
          <a:p>
            <a:endParaRPr lang="en-US"/>
          </a:p>
        </p:txBody>
      </p:sp>
      <p:sp>
        <p:nvSpPr>
          <p:cNvPr id="3" name="Text Placeholder 2"/>
          <p:cNvSpPr>
            <a:spLocks noGrp="1"/>
          </p:cNvSpPr>
          <p:nvPr>
            <p:ph type="body" idx="1"/>
          </p:nvPr>
        </p:nvSpPr>
        <p:spPr>
          <a:xfrm>
            <a:off x="442912" y="2180035"/>
            <a:ext cx="8458199"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42913" y="4767263"/>
            <a:ext cx="1203007" cy="273844"/>
          </a:xfrm>
        </p:spPr>
        <p:txBody>
          <a:bodyPr/>
          <a:lstStyle/>
          <a:p>
            <a:fld id="{95690783-B5B6-43F6-9D05-1F8793B02117}"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01932291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78606" y="900113"/>
            <a:ext cx="4217194" cy="3771900"/>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900113"/>
            <a:ext cx="4252912" cy="3771900"/>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E2AB3E9-7592-48AC-A218-7AC85EB51A08}" type="datetime1">
              <a:rPr lang="en-US" smtClean="0"/>
              <a:t>5/2/2021</a:t>
            </a:fld>
            <a:endParaRPr lang="en-US"/>
          </a:p>
        </p:txBody>
      </p:sp>
      <p:sp>
        <p:nvSpPr>
          <p:cNvPr id="6" name="Footer Placeholder 5"/>
          <p:cNvSpPr>
            <a:spLocks noGrp="1"/>
          </p:cNvSpPr>
          <p:nvPr>
            <p:ph type="ftr" sz="quarter" idx="11"/>
          </p:nvPr>
        </p:nvSpPr>
        <p:spPr/>
        <p:txBody>
          <a:bodyPr/>
          <a:lstStyle/>
          <a:p>
            <a:r>
              <a:rPr lang="en-US" smtClean="0"/>
              <a:t>09e-BM/DT/FSOFT - ©FPT SOFTWARE – Fresher Academy - Internal Use</a:t>
            </a:r>
            <a:endParaRPr lang="en-US"/>
          </a:p>
        </p:txBody>
      </p:sp>
      <p:sp>
        <p:nvSpPr>
          <p:cNvPr id="7" name="Slide Number Placeholder 6"/>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01844950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76789B-5D05-4E47-B9C1-C0FFAEB67DE3}" type="datetime1">
              <a:rPr lang="en-US" smtClean="0"/>
              <a:t>5/2/2021</a:t>
            </a:fld>
            <a:endParaRPr lang="en-US"/>
          </a:p>
        </p:txBody>
      </p:sp>
      <p:sp>
        <p:nvSpPr>
          <p:cNvPr id="4"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a:t>
            </a:fld>
            <a:endParaRPr lang="en-US"/>
          </a:p>
        </p:txBody>
      </p:sp>
      <p:sp>
        <p:nvSpPr>
          <p:cNvPr id="6" name="Content Placeholder 2"/>
          <p:cNvSpPr>
            <a:spLocks noGrp="1"/>
          </p:cNvSpPr>
          <p:nvPr>
            <p:ph sz="half" idx="1"/>
          </p:nvPr>
        </p:nvSpPr>
        <p:spPr>
          <a:xfrm>
            <a:off x="278606" y="900113"/>
            <a:ext cx="4217194" cy="2221706"/>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3"/>
          <p:cNvSpPr>
            <a:spLocks noGrp="1"/>
          </p:cNvSpPr>
          <p:nvPr>
            <p:ph sz="half" idx="2"/>
          </p:nvPr>
        </p:nvSpPr>
        <p:spPr>
          <a:xfrm>
            <a:off x="4648200" y="900113"/>
            <a:ext cx="4252912" cy="2221706"/>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8"/>
          <p:cNvSpPr>
            <a:spLocks noGrp="1"/>
          </p:cNvSpPr>
          <p:nvPr>
            <p:ph sz="quarter" idx="13"/>
          </p:nvPr>
        </p:nvSpPr>
        <p:spPr>
          <a:xfrm>
            <a:off x="278606" y="3258343"/>
            <a:ext cx="8622506" cy="1349375"/>
          </a:xfrm>
        </p:spPr>
        <p:txBody>
          <a:bodyPr>
            <a:noAutofit/>
          </a:bodyPr>
          <a:lstStyle>
            <a:lvl1pPr>
              <a:defRPr sz="2000"/>
            </a:lvl1pPr>
            <a:lvl2pPr marL="457200" indent="0">
              <a:buNone/>
              <a:defRPr sz="1800"/>
            </a:lvl2pPr>
            <a:lvl3pPr>
              <a:defRPr sz="1600"/>
            </a:lvl3pPr>
            <a:lvl4pPr>
              <a:defRPr sz="1400"/>
            </a:lvl4pPr>
            <a:lvl5pPr>
              <a:defRPr sz="1400"/>
            </a:lvl5pPr>
          </a:lstStyle>
          <a:p>
            <a:pPr lvl="0"/>
            <a:r>
              <a:rPr lang="en-US" smtClean="0"/>
              <a:t>Click to edit Master text styles</a:t>
            </a:r>
          </a:p>
        </p:txBody>
      </p:sp>
    </p:spTree>
    <p:extLst>
      <p:ext uri="{BB962C8B-B14F-4D97-AF65-F5344CB8AC3E}">
        <p14:creationId xmlns:p14="http://schemas.microsoft.com/office/powerpoint/2010/main" val="184714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7162" y="55784"/>
            <a:ext cx="7100888" cy="540688"/>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57161" y="858441"/>
            <a:ext cx="4271963" cy="47982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7161" y="1338261"/>
            <a:ext cx="4271963" cy="3276601"/>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00575" y="845344"/>
            <a:ext cx="4300537" cy="47982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00575" y="1325165"/>
            <a:ext cx="4300537" cy="328969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157163" y="4767263"/>
            <a:ext cx="1488758" cy="273844"/>
          </a:xfrm>
        </p:spPr>
        <p:txBody>
          <a:bodyPr/>
          <a:lstStyle/>
          <a:p>
            <a:fld id="{89809214-B0AA-40EF-B713-56DABC867509}" type="datetime1">
              <a:rPr lang="en-US" smtClean="0"/>
              <a:t>5/2/2021</a:t>
            </a:fld>
            <a:endParaRPr lang="en-US"/>
          </a:p>
        </p:txBody>
      </p:sp>
      <p:sp>
        <p:nvSpPr>
          <p:cNvPr id="8" name="Footer Placeholder 7"/>
          <p:cNvSpPr>
            <a:spLocks noGrp="1"/>
          </p:cNvSpPr>
          <p:nvPr>
            <p:ph type="ftr" sz="quarter" idx="11"/>
          </p:nvPr>
        </p:nvSpPr>
        <p:spPr/>
        <p:txBody>
          <a:bodyPr/>
          <a:lstStyle/>
          <a:p>
            <a:r>
              <a:rPr lang="en-US" smtClean="0"/>
              <a:t>09e-BM/DT/FSOFT - ©FPT SOFTWARE – Fresher Academy - Internal Use</a:t>
            </a:r>
            <a:endParaRPr lang="en-US"/>
          </a:p>
        </p:txBody>
      </p:sp>
      <p:sp>
        <p:nvSpPr>
          <p:cNvPr id="9" name="Slide Number Placeholder 8"/>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371065782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F778E15-6A1B-4F98-93CA-BDA6731742CD}"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077462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39" y="0"/>
            <a:ext cx="9124122" cy="5143500"/>
          </a:xfrm>
          <a:prstGeom prst="rect">
            <a:avLst/>
          </a:prstGeom>
        </p:spPr>
      </p:pic>
      <p:sp>
        <p:nvSpPr>
          <p:cNvPr id="2" name="Title Placeholder 1"/>
          <p:cNvSpPr>
            <a:spLocks noGrp="1"/>
          </p:cNvSpPr>
          <p:nvPr>
            <p:ph type="title"/>
          </p:nvPr>
        </p:nvSpPr>
        <p:spPr>
          <a:xfrm>
            <a:off x="278606" y="0"/>
            <a:ext cx="6885519" cy="644057"/>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78605" y="850106"/>
            <a:ext cx="8622507" cy="374451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78605" y="4767263"/>
            <a:ext cx="1367315"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0276789B-5D05-4E47-B9C1-C0FFAEB67DE3}" type="datetime1">
              <a:rPr lang="en-US" smtClean="0"/>
              <a:t>5/2/2021</a:t>
            </a:fld>
            <a:endParaRPr lang="en-US"/>
          </a:p>
        </p:txBody>
      </p:sp>
      <p:sp>
        <p:nvSpPr>
          <p:cNvPr id="5" name="Footer Placeholder 4"/>
          <p:cNvSpPr>
            <a:spLocks noGrp="1"/>
          </p:cNvSpPr>
          <p:nvPr>
            <p:ph type="ftr" sz="quarter" idx="3"/>
          </p:nvPr>
        </p:nvSpPr>
        <p:spPr>
          <a:xfrm>
            <a:off x="1764506" y="4767263"/>
            <a:ext cx="6372225" cy="273844"/>
          </a:xfrm>
          <a:prstGeom prst="rect">
            <a:avLst/>
          </a:prstGeom>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1200">
                <a:solidFill>
                  <a:schemeClr val="tx1">
                    <a:tint val="75000"/>
                  </a:schemeClr>
                </a:solidFill>
              </a:defRPr>
            </a:lvl1pPr>
          </a:lstStyle>
          <a:p>
            <a:r>
              <a:rPr lang="en-US" smtClean="0"/>
              <a:t>09e-BM/DT/FSOFT - ©FPT SOFTWARE – Fresher Academy - Internal Use</a:t>
            </a:r>
            <a:endParaRPr lang="en-US" dirty="0"/>
          </a:p>
        </p:txBody>
      </p:sp>
      <p:sp>
        <p:nvSpPr>
          <p:cNvPr id="6" name="Slide Number Placeholder 5"/>
          <p:cNvSpPr>
            <a:spLocks noGrp="1"/>
          </p:cNvSpPr>
          <p:nvPr>
            <p:ph type="sldNum" sz="quarter" idx="4"/>
          </p:nvPr>
        </p:nvSpPr>
        <p:spPr>
          <a:xfrm>
            <a:off x="8229600" y="4767263"/>
            <a:ext cx="671512"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3B08AF7-4237-6949-8335-F63F47C2C8CC}" type="slidenum">
              <a:rPr lang="en-US" smtClean="0"/>
              <a:t>‹#›</a:t>
            </a:fld>
            <a:endParaRPr lang="en-US"/>
          </a:p>
        </p:txBody>
      </p:sp>
    </p:spTree>
    <p:extLst>
      <p:ext uri="{BB962C8B-B14F-4D97-AF65-F5344CB8AC3E}">
        <p14:creationId xmlns:p14="http://schemas.microsoft.com/office/powerpoint/2010/main" val="2986712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51" r:id="rId4"/>
    <p:sldLayoutId id="2147483652" r:id="rId5"/>
    <p:sldLayoutId id="2147483660" r:id="rId6"/>
    <p:sldLayoutId id="2147483653" r:id="rId7"/>
    <p:sldLayoutId id="2147483658" r:id="rId8"/>
  </p:sldLayoutIdLst>
  <p:timing>
    <p:tnLst>
      <p:par>
        <p:cTn id="1" dur="indefinite" restart="never" nodeType="tmRoot"/>
      </p:par>
    </p:tnLst>
  </p:timing>
  <p:hf hdr="0"/>
  <p:txStyles>
    <p:titleStyle>
      <a:lvl1pPr algn="l" defTabSz="457200" rtl="0" eaLnBrk="1" latinLnBrk="0" hangingPunct="1">
        <a:spcBef>
          <a:spcPct val="0"/>
        </a:spcBef>
        <a:buNone/>
        <a:defRPr sz="3200" b="1" kern="1200">
          <a:solidFill>
            <a:schemeClr val="bg1"/>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Wingdings" panose="05000000000000000000" pitchFamily="2" charset="2"/>
        <a:buChar char="ü"/>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webp"/><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f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smtClean="0"/>
              <a:t>Embedded System Course</a:t>
            </a:r>
            <a:endParaRPr lang="en-US" dirty="0"/>
          </a:p>
        </p:txBody>
      </p:sp>
      <p:sp>
        <p:nvSpPr>
          <p:cNvPr id="8" name="Subtitle 7"/>
          <p:cNvSpPr>
            <a:spLocks noGrp="1"/>
          </p:cNvSpPr>
          <p:nvPr>
            <p:ph type="subTitle" idx="1"/>
          </p:nvPr>
        </p:nvSpPr>
        <p:spPr/>
        <p:txBody>
          <a:bodyPr/>
          <a:lstStyle/>
          <a:p>
            <a:r>
              <a:rPr lang="en-US" dirty="0" smtClean="0"/>
              <a:t>Lecture 9: Peripheral I2C</a:t>
            </a:r>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1</a:t>
            </a:fld>
            <a:endParaRPr lang="en-US"/>
          </a:p>
        </p:txBody>
      </p:sp>
    </p:spTree>
    <p:extLst>
      <p:ext uri="{BB962C8B-B14F-4D97-AF65-F5344CB8AC3E}">
        <p14:creationId xmlns:p14="http://schemas.microsoft.com/office/powerpoint/2010/main" val="47839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1800" i="1">
                <a:solidFill>
                  <a:prstClr val="white"/>
                </a:solidFill>
              </a:rPr>
              <a:t>Guideline for training material development in Powerpoint format </a:t>
            </a:r>
            <a:r>
              <a:rPr lang="en-US" altLang="en-US" sz="1600" i="1">
                <a:solidFill>
                  <a:prstClr val="white"/>
                </a:solidFill>
              </a:rPr>
              <a:t>(please delete this slide after completing the material)</a:t>
            </a:r>
            <a:endParaRPr lang="en-US"/>
          </a:p>
        </p:txBody>
      </p:sp>
      <p:sp>
        <p:nvSpPr>
          <p:cNvPr id="3" name="Content Placeholder 2"/>
          <p:cNvSpPr>
            <a:spLocks noGrp="1"/>
          </p:cNvSpPr>
          <p:nvPr>
            <p:ph idx="1"/>
          </p:nvPr>
        </p:nvSpPr>
        <p:spPr/>
        <p:txBody>
          <a:bodyPr/>
          <a:lstStyle/>
          <a:p>
            <a:pPr lvl="0" algn="just"/>
            <a:r>
              <a:rPr lang="en-US" altLang="en-US" sz="2000" i="1">
                <a:solidFill>
                  <a:prstClr val="black"/>
                </a:solidFill>
              </a:rPr>
              <a:t>&lt;Considering to the lesson duration, it is recommended to design the slides where each of them takes in average about 3 minutes to present. Time for exercise and case-study is estimated and allocated separately&gt;</a:t>
            </a:r>
          </a:p>
          <a:p>
            <a:pPr lvl="0" algn="just">
              <a:buNone/>
            </a:pPr>
            <a:endParaRPr lang="en-US" altLang="en-US" sz="2000" i="1">
              <a:solidFill>
                <a:prstClr val="black"/>
              </a:solidFill>
            </a:endParaRPr>
          </a:p>
          <a:p>
            <a:pPr lvl="0" algn="just"/>
            <a:r>
              <a:rPr lang="en-US" altLang="en-US" sz="2000" i="1">
                <a:solidFill>
                  <a:prstClr val="black"/>
                </a:solidFill>
              </a:rPr>
              <a:t>&lt;The author may use the Notes part to provide more detail information for instructor. Slides and Notes are to be printed and given to trainer as Instructor manual&gt;</a:t>
            </a:r>
          </a:p>
          <a:p>
            <a:pPr lvl="0"/>
            <a:endParaRPr lang="en-US" sz="2000">
              <a:solidFill>
                <a:prstClr val="black"/>
              </a:solidFill>
            </a:endParaRPr>
          </a:p>
        </p:txBody>
      </p:sp>
      <p:sp>
        <p:nvSpPr>
          <p:cNvPr id="4" name="Footer Placeholder 3"/>
          <p:cNvSpPr>
            <a:spLocks noGrp="1"/>
          </p:cNvSpPr>
          <p:nvPr>
            <p:ph type="ftr" sz="quarter" idx="11"/>
          </p:nvPr>
        </p:nvSpPr>
        <p:spPr/>
        <p:txBody>
          <a:bodyPr/>
          <a:lstStyle/>
          <a:p>
            <a:r>
              <a:rPr lang="en-US" smtClean="0"/>
              <a:t>09e-BM/DT/FSOFT - ©FPT SOFTWARE – Fresher Academy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a:t>
            </a:fld>
            <a:endParaRPr lang="en-US"/>
          </a:p>
        </p:txBody>
      </p:sp>
      <p:sp>
        <p:nvSpPr>
          <p:cNvPr id="6" name="Date Placeholder 5"/>
          <p:cNvSpPr>
            <a:spLocks noGrp="1"/>
          </p:cNvSpPr>
          <p:nvPr>
            <p:ph type="dt" sz="half" idx="10"/>
          </p:nvPr>
        </p:nvSpPr>
        <p:spPr/>
        <p:txBody>
          <a:bodyPr/>
          <a:lstStyle/>
          <a:p>
            <a:fld id="{E4E53424-F701-442A-88EC-68194D6684A5}" type="datetime1">
              <a:rPr lang="en-US" smtClean="0"/>
              <a:t>5/2/2021</a:t>
            </a:fld>
            <a:endParaRPr lang="en-US"/>
          </a:p>
        </p:txBody>
      </p:sp>
    </p:spTree>
    <p:extLst>
      <p:ext uri="{BB962C8B-B14F-4D97-AF65-F5344CB8AC3E}">
        <p14:creationId xmlns:p14="http://schemas.microsoft.com/office/powerpoint/2010/main" val="4251754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400" dirty="0">
                <a:latin typeface="Arial" panose="020B0604020202020204" pitchFamily="34" charset="0"/>
                <a:cs typeface="Arial" panose="020B0604020202020204" pitchFamily="34" charset="0"/>
              </a:rPr>
              <a:t>Lesson</a:t>
            </a:r>
            <a:r>
              <a:rPr lang="vi-VN" altLang="en-US" sz="2400" dirty="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O</a:t>
            </a:r>
            <a:r>
              <a:rPr lang="vi-VN" altLang="en-US" sz="2400" dirty="0">
                <a:latin typeface="Arial" panose="020B0604020202020204" pitchFamily="34" charset="0"/>
                <a:cs typeface="Arial" panose="020B0604020202020204" pitchFamily="34" charset="0"/>
              </a:rPr>
              <a:t>bjectives</a:t>
            </a:r>
            <a:endParaRPr lang="en-US" sz="2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sz="2000" i="1" dirty="0" smtClean="0">
                <a:latin typeface="Arial" panose="020B0604020202020204" pitchFamily="34" charset="0"/>
              </a:rPr>
              <a:t>Understanding basis concepts about I2C and how to transmit/receive data via I2C bus</a:t>
            </a:r>
          </a:p>
          <a:p>
            <a:r>
              <a:rPr lang="en-GB" sz="2000" i="1" dirty="0"/>
              <a:t>Understanding on how to configure the KL46 </a:t>
            </a:r>
            <a:r>
              <a:rPr lang="en-GB" sz="2000" i="1" dirty="0" smtClean="0"/>
              <a:t>I2C </a:t>
            </a:r>
            <a:r>
              <a:rPr lang="en-GB" sz="2000" i="1" dirty="0"/>
              <a:t>module.</a:t>
            </a:r>
          </a:p>
          <a:p>
            <a:endParaRPr lang="en-US" sz="2000" dirty="0"/>
          </a:p>
        </p:txBody>
      </p:sp>
      <p:sp>
        <p:nvSpPr>
          <p:cNvPr id="4" name="Date Placeholder 3"/>
          <p:cNvSpPr>
            <a:spLocks noGrp="1"/>
          </p:cNvSpPr>
          <p:nvPr>
            <p:ph type="dt" sz="half" idx="10"/>
          </p:nvPr>
        </p:nvSpPr>
        <p:spPr/>
        <p:txBody>
          <a:bodyPr/>
          <a:lstStyle/>
          <a:p>
            <a:fld id="{6D833602-3032-40E0-910C-A05081070B9D}" type="datetime1">
              <a:rPr lang="en-US" smtClean="0"/>
              <a:t>5/2/2021</a:t>
            </a:fld>
            <a:endParaRPr lang="en-US"/>
          </a:p>
        </p:txBody>
      </p:sp>
      <p:sp>
        <p:nvSpPr>
          <p:cNvPr id="6"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3</a:t>
            </a:fld>
            <a:endParaRPr lang="en-US"/>
          </a:p>
        </p:txBody>
      </p:sp>
    </p:spTree>
    <p:extLst>
      <p:ext uri="{BB962C8B-B14F-4D97-AF65-F5344CB8AC3E}">
        <p14:creationId xmlns:p14="http://schemas.microsoft.com/office/powerpoint/2010/main" val="6838283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t>Table of contents</a:t>
            </a:r>
            <a:endParaRPr lang="en-US" sz="2400" dirty="0"/>
          </a:p>
        </p:txBody>
      </p:sp>
      <p:sp>
        <p:nvSpPr>
          <p:cNvPr id="3" name="Content Placeholder 2"/>
          <p:cNvSpPr>
            <a:spLocks noGrp="1"/>
          </p:cNvSpPr>
          <p:nvPr>
            <p:ph idx="1"/>
          </p:nvPr>
        </p:nvSpPr>
        <p:spPr/>
        <p:txBody>
          <a:bodyPr/>
          <a:lstStyle/>
          <a:p>
            <a:r>
              <a:rPr lang="en-GB" sz="2000" i="1" dirty="0" smtClean="0"/>
              <a:t>Introduction to I2C</a:t>
            </a:r>
          </a:p>
          <a:p>
            <a:r>
              <a:rPr lang="en-GB" sz="2000" i="1" dirty="0" smtClean="0"/>
              <a:t>Freedom KL46 I2C</a:t>
            </a:r>
          </a:p>
          <a:p>
            <a:endParaRPr lang="en-US"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4</a:t>
            </a:fld>
            <a:endParaRPr lang="en-US"/>
          </a:p>
        </p:txBody>
      </p:sp>
    </p:spTree>
    <p:extLst>
      <p:ext uri="{BB962C8B-B14F-4D97-AF65-F5344CB8AC3E}">
        <p14:creationId xmlns:p14="http://schemas.microsoft.com/office/powerpoint/2010/main" val="4156230708"/>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spcBef>
                <a:spcPct val="20000"/>
              </a:spcBef>
              <a:defRPr/>
            </a:pPr>
            <a:r>
              <a:rPr lang="en-GB" sz="2400" b="0" cap="none" dirty="0" smtClean="0">
                <a:solidFill>
                  <a:schemeClr val="tx1">
                    <a:lumMod val="95000"/>
                    <a:lumOff val="5000"/>
                  </a:schemeClr>
                </a:solidFill>
                <a:latin typeface="Arial" charset="0"/>
                <a:ea typeface="+mn-ea"/>
                <a:cs typeface="Arial" charset="0"/>
              </a:rPr>
              <a:t>Requirements and Problems</a:t>
            </a:r>
            <a:endParaRPr lang="en-US" sz="4400" dirty="0">
              <a:solidFill>
                <a:schemeClr val="tx1">
                  <a:lumMod val="95000"/>
                  <a:lumOff val="5000"/>
                </a:schemeClr>
              </a:solidFill>
            </a:endParaRPr>
          </a:p>
        </p:txBody>
      </p:sp>
      <p:sp>
        <p:nvSpPr>
          <p:cNvPr id="6" name="Title 1"/>
          <p:cNvSpPr>
            <a:spLocks noGrp="1"/>
          </p:cNvSpPr>
          <p:nvPr>
            <p:ph type="body" idx="1"/>
          </p:nvPr>
        </p:nvSpPr>
        <p:spPr/>
        <p:txBody>
          <a:bodyPr/>
          <a:lstStyle/>
          <a:p>
            <a:pPr>
              <a:defRPr/>
            </a:pPr>
            <a:r>
              <a:rPr lang="en-GB" dirty="0" smtClean="0">
                <a:latin typeface="Arial" charset="0"/>
                <a:cs typeface="Arial" charset="0"/>
              </a:rPr>
              <a:t>Section 1: Introduction to I2C</a:t>
            </a:r>
            <a:endParaRPr lang="vi-VN" dirty="0" smtClean="0">
              <a:latin typeface="Arial" charset="0"/>
              <a:cs typeface="Arial" charset="0"/>
            </a:endParaRPr>
          </a:p>
        </p:txBody>
      </p:sp>
      <p:sp>
        <p:nvSpPr>
          <p:cNvPr id="3" name="Date Placeholder 2"/>
          <p:cNvSpPr>
            <a:spLocks noGrp="1"/>
          </p:cNvSpPr>
          <p:nvPr>
            <p:ph type="dt" sz="half" idx="10"/>
          </p:nvPr>
        </p:nvSpPr>
        <p:spPr/>
        <p:txBody>
          <a:bodyPr/>
          <a:lstStyle/>
          <a:p>
            <a:fld id="{5311EF71-FC9A-4939-859D-AA6007B9A73D}" type="datetime1">
              <a:rPr lang="en-US" smtClean="0"/>
              <a:t>5/2/2021</a:t>
            </a:fld>
            <a:endParaRPr lang="en-US"/>
          </a:p>
        </p:txBody>
      </p:sp>
      <p:sp>
        <p:nvSpPr>
          <p:cNvPr id="7"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5</a:t>
            </a:fld>
            <a:endParaRPr lang="en-US"/>
          </a:p>
        </p:txBody>
      </p:sp>
    </p:spTree>
    <p:extLst>
      <p:ext uri="{BB962C8B-B14F-4D97-AF65-F5344CB8AC3E}">
        <p14:creationId xmlns:p14="http://schemas.microsoft.com/office/powerpoint/2010/main" val="757988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smtClean="0">
                <a:latin typeface="Arial" panose="020B0604020202020204" pitchFamily="34" charset="0"/>
                <a:cs typeface="Arial" panose="020B0604020202020204" pitchFamily="34" charset="0"/>
              </a:rPr>
              <a:t>Requirements and Problems</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sz="half" idx="1"/>
          </p:nvPr>
        </p:nvSpPr>
        <p:spPr/>
        <p:txBody>
          <a:bodyPr>
            <a:normAutofit/>
          </a:bodyPr>
          <a:lstStyle/>
          <a:p>
            <a:pPr marL="0" indent="0" algn="just">
              <a:buNone/>
            </a:pPr>
            <a:r>
              <a:rPr lang="en-GB" altLang="en-US" i="1" dirty="0" smtClean="0"/>
              <a:t>Customer requirements:</a:t>
            </a:r>
          </a:p>
          <a:p>
            <a:pPr algn="just"/>
            <a:r>
              <a:rPr lang="en-GB" altLang="en-US" i="1" dirty="0" smtClean="0"/>
              <a:t>Serial and synchronous</a:t>
            </a:r>
          </a:p>
          <a:p>
            <a:pPr algn="just"/>
            <a:r>
              <a:rPr lang="en-GB" altLang="en-US" i="1" dirty="0" smtClean="0"/>
              <a:t>2 wires</a:t>
            </a:r>
          </a:p>
          <a:p>
            <a:pPr algn="just"/>
            <a:r>
              <a:rPr lang="en-GB" altLang="en-US" i="1" dirty="0" smtClean="0"/>
              <a:t>Large number of devices</a:t>
            </a:r>
            <a:endParaRPr lang="en-US" altLang="en-US" i="1" dirty="0"/>
          </a:p>
          <a:p>
            <a:pPr algn="just"/>
            <a:r>
              <a:rPr lang="en-GB" altLang="en-US" i="1" dirty="0" smtClean="0"/>
              <a:t>Multi-masters, multi-slaves</a:t>
            </a:r>
          </a:p>
          <a:p>
            <a:pPr algn="just"/>
            <a:r>
              <a:rPr lang="en-GB" altLang="en-US" i="1" dirty="0" smtClean="0"/>
              <a:t>2 devices communicate at a time</a:t>
            </a:r>
          </a:p>
          <a:p>
            <a:pPr algn="just"/>
            <a:r>
              <a:rPr lang="en-GB" altLang="en-US" i="1" dirty="0" smtClean="0"/>
              <a:t>Switching device role runtime</a:t>
            </a:r>
          </a:p>
          <a:p>
            <a:pPr algn="just"/>
            <a:r>
              <a:rPr lang="en-GB" altLang="en-US" i="1" dirty="0" smtClean="0"/>
              <a:t>Handshake and Plug-play</a:t>
            </a:r>
            <a:endParaRPr lang="en-US" altLang="en-US" i="1" dirty="0"/>
          </a:p>
        </p:txBody>
      </p:sp>
      <p:pic>
        <p:nvPicPr>
          <p:cNvPr id="9" name="Content Placeholder 8"/>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888706" y="900113"/>
            <a:ext cx="3771900" cy="3771900"/>
          </a:xfrm>
        </p:spPr>
      </p:pic>
      <p:sp>
        <p:nvSpPr>
          <p:cNvPr id="3" name="Date Placeholder 2"/>
          <p:cNvSpPr>
            <a:spLocks noGrp="1"/>
          </p:cNvSpPr>
          <p:nvPr>
            <p:ph type="dt" sz="half" idx="10"/>
          </p:nvPr>
        </p:nvSpPr>
        <p:spPr/>
        <p:txBody>
          <a:bodyPr/>
          <a:lstStyle/>
          <a:p>
            <a:fld id="{2879C26C-EA9B-46F9-9E85-988B19AAD8EA}" type="datetime1">
              <a:rPr lang="en-US" smtClean="0"/>
              <a:t>5/2/2021</a:t>
            </a:fld>
            <a:endParaRPr lang="en-US"/>
          </a:p>
        </p:txBody>
      </p:sp>
      <p:sp>
        <p:nvSpPr>
          <p:cNvPr id="4"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6</a:t>
            </a:fld>
            <a:endParaRPr lang="en-US"/>
          </a:p>
        </p:txBody>
      </p:sp>
    </p:spTree>
    <p:extLst>
      <p:ext uri="{BB962C8B-B14F-4D97-AF65-F5344CB8AC3E}">
        <p14:creationId xmlns:p14="http://schemas.microsoft.com/office/powerpoint/2010/main" val="4116642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smtClean="0">
                <a:latin typeface="Arial" panose="020B0604020202020204" pitchFamily="34" charset="0"/>
                <a:cs typeface="Arial" panose="020B0604020202020204" pitchFamily="34" charset="0"/>
              </a:rPr>
              <a:t>Requirements and Problems</a:t>
            </a:r>
            <a:endParaRPr lang="en-US" sz="2400" dirty="0">
              <a:latin typeface="Arial" panose="020B0604020202020204" pitchFamily="34" charset="0"/>
              <a:cs typeface="Arial" panose="020B0604020202020204" pitchFamily="34"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589850657"/>
              </p:ext>
            </p:extLst>
          </p:nvPr>
        </p:nvGraphicFramePr>
        <p:xfrm>
          <a:off x="277813" y="849313"/>
          <a:ext cx="8623300" cy="2621280"/>
        </p:xfrm>
        <a:graphic>
          <a:graphicData uri="http://schemas.openxmlformats.org/drawingml/2006/table">
            <a:tbl>
              <a:tblPr firstRow="1" bandRow="1">
                <a:tableStyleId>{E8B1032C-EA38-4F05-BA0D-38AFFFC7BED3}</a:tableStyleId>
              </a:tblPr>
              <a:tblGrid>
                <a:gridCol w="4311650">
                  <a:extLst>
                    <a:ext uri="{9D8B030D-6E8A-4147-A177-3AD203B41FA5}">
                      <a16:colId xmlns:a16="http://schemas.microsoft.com/office/drawing/2014/main" val="2451352386"/>
                    </a:ext>
                  </a:extLst>
                </a:gridCol>
                <a:gridCol w="4311650">
                  <a:extLst>
                    <a:ext uri="{9D8B030D-6E8A-4147-A177-3AD203B41FA5}">
                      <a16:colId xmlns:a16="http://schemas.microsoft.com/office/drawing/2014/main" val="2603838703"/>
                    </a:ext>
                  </a:extLst>
                </a:gridCol>
              </a:tblGrid>
              <a:tr h="370840">
                <a:tc>
                  <a:txBody>
                    <a:bodyPr/>
                    <a:lstStyle/>
                    <a:p>
                      <a:r>
                        <a:rPr lang="en-GB" sz="2000" dirty="0" smtClean="0"/>
                        <a:t>UART</a:t>
                      </a:r>
                      <a:endParaRPr lang="en-US" sz="2000" dirty="0">
                        <a:latin typeface="Arial" panose="020B0604020202020204" pitchFamily="34" charset="0"/>
                        <a:cs typeface="Arial" panose="020B0604020202020204" pitchFamily="34" charset="0"/>
                      </a:endParaRPr>
                    </a:p>
                  </a:txBody>
                  <a:tcPr/>
                </a:tc>
                <a:tc>
                  <a:txBody>
                    <a:bodyPr/>
                    <a:lstStyle/>
                    <a:p>
                      <a:r>
                        <a:rPr lang="en-GB" sz="2000" dirty="0" smtClean="0"/>
                        <a:t>SPI</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17547845"/>
                  </a:ext>
                </a:extLst>
              </a:tr>
              <a:tr h="370840">
                <a:tc>
                  <a:txBody>
                    <a:bodyPr/>
                    <a:lstStyle/>
                    <a:p>
                      <a:r>
                        <a:rPr lang="en-GB" dirty="0" smtClean="0"/>
                        <a:t>Asynchronous</a:t>
                      </a:r>
                      <a:r>
                        <a:rPr lang="en-GB" baseline="0" dirty="0" smtClean="0"/>
                        <a:t> serial</a:t>
                      </a:r>
                      <a:endParaRPr lang="en-US" dirty="0">
                        <a:latin typeface="Arial" panose="020B0604020202020204" pitchFamily="34" charset="0"/>
                        <a:cs typeface="Arial" panose="020B0604020202020204" pitchFamily="34" charset="0"/>
                      </a:endParaRPr>
                    </a:p>
                  </a:txBody>
                  <a:tcPr/>
                </a:tc>
                <a:tc>
                  <a:txBody>
                    <a:bodyPr/>
                    <a:lstStyle/>
                    <a:p>
                      <a:r>
                        <a:rPr lang="en-GB" dirty="0" smtClean="0"/>
                        <a:t>Synchronous serial</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57764957"/>
                  </a:ext>
                </a:extLst>
              </a:tr>
              <a:tr h="370840">
                <a:tc>
                  <a:txBody>
                    <a:bodyPr/>
                    <a:lstStyle/>
                    <a:p>
                      <a:r>
                        <a:rPr lang="en-GB" dirty="0" smtClean="0"/>
                        <a:t>2 wires</a:t>
                      </a:r>
                      <a:endParaRPr lang="en-US" dirty="0">
                        <a:latin typeface="Arial" panose="020B0604020202020204" pitchFamily="34" charset="0"/>
                        <a:cs typeface="Arial" panose="020B0604020202020204" pitchFamily="34" charset="0"/>
                      </a:endParaRPr>
                    </a:p>
                  </a:txBody>
                  <a:tcPr/>
                </a:tc>
                <a:tc>
                  <a:txBody>
                    <a:bodyPr/>
                    <a:lstStyle/>
                    <a:p>
                      <a:r>
                        <a:rPr lang="en-GB" dirty="0" smtClean="0"/>
                        <a:t>&gt;</a:t>
                      </a:r>
                      <a:r>
                        <a:rPr lang="en-GB" baseline="0" dirty="0" smtClean="0"/>
                        <a:t>4 wires</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90813256"/>
                  </a:ext>
                </a:extLst>
              </a:tr>
              <a:tr h="370840">
                <a:tc>
                  <a:txBody>
                    <a:bodyPr/>
                    <a:lstStyle/>
                    <a:p>
                      <a:r>
                        <a:rPr lang="en-GB" dirty="0" smtClean="0"/>
                        <a:t>2 devices</a:t>
                      </a:r>
                      <a:endParaRPr lang="en-US" dirty="0">
                        <a:latin typeface="Arial" panose="020B0604020202020204" pitchFamily="34" charset="0"/>
                        <a:cs typeface="Arial" panose="020B0604020202020204" pitchFamily="34" charset="0"/>
                      </a:endParaRPr>
                    </a:p>
                  </a:txBody>
                  <a:tcPr/>
                </a:tc>
                <a:tc>
                  <a:txBody>
                    <a:bodyPr/>
                    <a:lstStyle/>
                    <a:p>
                      <a:r>
                        <a:rPr lang="en-GB" dirty="0" smtClean="0"/>
                        <a:t>Multiple-devices</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7794486"/>
                  </a:ext>
                </a:extLst>
              </a:tr>
              <a:tr h="370840">
                <a:tc>
                  <a:txBody>
                    <a:bodyPr/>
                    <a:lstStyle/>
                    <a:p>
                      <a:r>
                        <a:rPr lang="en-GB" dirty="0" smtClean="0"/>
                        <a:t>-</a:t>
                      </a:r>
                      <a:endParaRPr lang="en-US" dirty="0">
                        <a:latin typeface="Arial" panose="020B0604020202020204" pitchFamily="34" charset="0"/>
                        <a:cs typeface="Arial" panose="020B0604020202020204" pitchFamily="34" charset="0"/>
                      </a:endParaRPr>
                    </a:p>
                  </a:txBody>
                  <a:tcPr/>
                </a:tc>
                <a:tc>
                  <a:txBody>
                    <a:bodyPr/>
                    <a:lstStyle/>
                    <a:p>
                      <a:r>
                        <a:rPr lang="en-GB" dirty="0" smtClean="0"/>
                        <a:t>One</a:t>
                      </a:r>
                      <a:r>
                        <a:rPr lang="en-GB" baseline="0" dirty="0" smtClean="0"/>
                        <a:t> master, multi-slave</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332445"/>
                  </a:ext>
                </a:extLst>
              </a:tr>
              <a:tr h="370840">
                <a:tc>
                  <a:txBody>
                    <a:bodyPr/>
                    <a:lstStyle/>
                    <a:p>
                      <a:r>
                        <a:rPr lang="en-GB" dirty="0" smtClean="0"/>
                        <a:t>-</a:t>
                      </a:r>
                      <a:endParaRPr lang="en-US" dirty="0">
                        <a:latin typeface="Arial" panose="020B0604020202020204" pitchFamily="34" charset="0"/>
                        <a:cs typeface="Arial" panose="020B0604020202020204" pitchFamily="34" charset="0"/>
                      </a:endParaRPr>
                    </a:p>
                  </a:txBody>
                  <a:tcPr/>
                </a:tc>
                <a:tc>
                  <a:txBody>
                    <a:bodyPr/>
                    <a:lstStyle/>
                    <a:p>
                      <a:r>
                        <a:rPr lang="en-GB" dirty="0" smtClean="0"/>
                        <a:t>Not</a:t>
                      </a:r>
                      <a:r>
                        <a:rPr lang="en-GB" baseline="0" dirty="0" smtClean="0"/>
                        <a:t> support switch role runtime</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07036462"/>
                  </a:ext>
                </a:extLst>
              </a:tr>
              <a:tr h="370840">
                <a:tc>
                  <a:txBody>
                    <a:bodyPr/>
                    <a:lstStyle/>
                    <a:p>
                      <a:r>
                        <a:rPr lang="en-GB" dirty="0" smtClean="0"/>
                        <a:t>Addition</a:t>
                      </a:r>
                      <a:r>
                        <a:rPr lang="en-GB" baseline="0" dirty="0" smtClean="0"/>
                        <a:t> wires for handshake</a:t>
                      </a:r>
                      <a:endParaRPr lang="en-US" dirty="0">
                        <a:latin typeface="Arial" panose="020B0604020202020204" pitchFamily="34" charset="0"/>
                        <a:cs typeface="Arial" panose="020B0604020202020204" pitchFamily="34" charset="0"/>
                      </a:endParaRPr>
                    </a:p>
                  </a:txBody>
                  <a:tcPr/>
                </a:tc>
                <a:tc>
                  <a:txBody>
                    <a:bodyPr/>
                    <a:lstStyle/>
                    <a:p>
                      <a:r>
                        <a:rPr lang="en-GB" dirty="0" smtClean="0"/>
                        <a:t>Addition</a:t>
                      </a:r>
                      <a:r>
                        <a:rPr lang="en-GB" baseline="0" dirty="0" smtClean="0"/>
                        <a:t> wires for handshake</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6736423"/>
                  </a:ext>
                </a:extLst>
              </a:tr>
            </a:tbl>
          </a:graphicData>
        </a:graphic>
      </p:graphicFrame>
      <p:sp>
        <p:nvSpPr>
          <p:cNvPr id="3" name="Date Placeholder 2"/>
          <p:cNvSpPr>
            <a:spLocks noGrp="1"/>
          </p:cNvSpPr>
          <p:nvPr>
            <p:ph type="dt" sz="half" idx="10"/>
          </p:nvPr>
        </p:nvSpPr>
        <p:spPr/>
        <p:txBody>
          <a:bodyPr/>
          <a:lstStyle/>
          <a:p>
            <a:fld id="{2879C26C-EA9B-46F9-9E85-988B19AAD8EA}" type="datetime1">
              <a:rPr lang="en-US" smtClean="0"/>
              <a:t>5/2/2021</a:t>
            </a:fld>
            <a:endParaRPr lang="en-US"/>
          </a:p>
        </p:txBody>
      </p:sp>
      <p:sp>
        <p:nvSpPr>
          <p:cNvPr id="4"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7</a:t>
            </a:fld>
            <a:endParaRPr lang="en-US"/>
          </a:p>
        </p:txBody>
      </p:sp>
    </p:spTree>
    <p:extLst>
      <p:ext uri="{BB962C8B-B14F-4D97-AF65-F5344CB8AC3E}">
        <p14:creationId xmlns:p14="http://schemas.microsoft.com/office/powerpoint/2010/main" val="2130774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Problem #1</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sz="half" idx="1"/>
          </p:nvPr>
        </p:nvSpPr>
        <p:spPr/>
        <p:txBody>
          <a:bodyPr>
            <a:normAutofit/>
          </a:bodyPr>
          <a:lstStyle/>
          <a:p>
            <a:pPr algn="just"/>
            <a:r>
              <a:rPr lang="en-US" altLang="en-US" sz="2000" i="1" dirty="0" smtClean="0">
                <a:latin typeface="Arial" panose="020B0604020202020204" pitchFamily="34" charset="0"/>
              </a:rPr>
              <a:t>Synchronous serial</a:t>
            </a:r>
          </a:p>
          <a:p>
            <a:pPr algn="just"/>
            <a:r>
              <a:rPr lang="en-GB" altLang="en-US" sz="2000" i="1" dirty="0" smtClean="0"/>
              <a:t>Two-wires</a:t>
            </a:r>
          </a:p>
          <a:p>
            <a:pPr algn="just">
              <a:buFont typeface="Symbol" panose="05050102010706020507" pitchFamily="18" charset="2"/>
              <a:buChar char="Þ"/>
            </a:pPr>
            <a:r>
              <a:rPr lang="en-GB" altLang="en-US" sz="2000" i="1" dirty="0" smtClean="0"/>
              <a:t>1 wire for synchronous clock</a:t>
            </a:r>
          </a:p>
          <a:p>
            <a:pPr algn="just">
              <a:buFont typeface="Symbol" panose="05050102010706020507" pitchFamily="18" charset="2"/>
              <a:buChar char="Þ"/>
            </a:pPr>
            <a:r>
              <a:rPr lang="en-GB" altLang="en-US" sz="2000" i="1" dirty="0" smtClean="0"/>
              <a:t>1 wire for data</a:t>
            </a:r>
          </a:p>
          <a:p>
            <a:pPr algn="just"/>
            <a:r>
              <a:rPr lang="en-GB" altLang="en-US" sz="2000" i="1" dirty="0"/>
              <a:t>Large number of devices</a:t>
            </a:r>
            <a:endParaRPr lang="en-US" altLang="en-US" sz="2000" i="1" dirty="0"/>
          </a:p>
          <a:p>
            <a:pPr algn="just"/>
            <a:r>
              <a:rPr lang="en-GB" altLang="en-US" sz="2000" i="1" dirty="0"/>
              <a:t>Multi-masters, multi-slaves</a:t>
            </a:r>
          </a:p>
          <a:p>
            <a:pPr algn="just"/>
            <a:r>
              <a:rPr lang="en-GB" altLang="en-US" sz="2000" i="1" dirty="0"/>
              <a:t>Switching device role runtime</a:t>
            </a:r>
          </a:p>
          <a:p>
            <a:pPr algn="just">
              <a:buFont typeface="Symbol" panose="05050102010706020507" pitchFamily="18" charset="2"/>
              <a:buChar char="Þ"/>
            </a:pPr>
            <a:r>
              <a:rPr lang="en-GB" altLang="en-US" sz="2000" i="1" dirty="0" smtClean="0"/>
              <a:t>2 wires are both </a:t>
            </a:r>
            <a:r>
              <a:rPr lang="en-GB" altLang="en-US" sz="2000" b="1" i="1" dirty="0" smtClean="0"/>
              <a:t>Input</a:t>
            </a:r>
            <a:r>
              <a:rPr lang="en-GB" altLang="en-US" sz="2000" i="1" dirty="0" smtClean="0"/>
              <a:t> and </a:t>
            </a:r>
            <a:r>
              <a:rPr lang="en-GB" altLang="en-US" sz="2000" b="1" i="1" dirty="0" smtClean="0"/>
              <a:t>Output</a:t>
            </a:r>
          </a:p>
          <a:p>
            <a:pPr marL="0" indent="0" algn="just">
              <a:buNone/>
            </a:pPr>
            <a:endParaRPr lang="en-GB" altLang="en-US" sz="2000" b="1" i="1" dirty="0" smtClean="0"/>
          </a:p>
          <a:p>
            <a:pPr algn="just"/>
            <a:endParaRPr lang="en-GB" altLang="en-US" sz="2000" i="1" dirty="0" smtClean="0"/>
          </a:p>
        </p:txBody>
      </p:sp>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648200" y="1660292"/>
            <a:ext cx="4252913" cy="2251542"/>
          </a:xfrm>
        </p:spPr>
      </p:pic>
      <p:sp>
        <p:nvSpPr>
          <p:cNvPr id="3" name="Date Placeholder 2"/>
          <p:cNvSpPr>
            <a:spLocks noGrp="1"/>
          </p:cNvSpPr>
          <p:nvPr>
            <p:ph type="dt" sz="half" idx="10"/>
          </p:nvPr>
        </p:nvSpPr>
        <p:spPr/>
        <p:txBody>
          <a:bodyPr/>
          <a:lstStyle/>
          <a:p>
            <a:fld id="{962A1C72-7C97-4A80-BEDB-F1B897A0A0E1}" type="datetime1">
              <a:rPr lang="en-US" smtClean="0"/>
              <a:t>5/2/2021</a:t>
            </a:fld>
            <a:endParaRPr lang="en-US"/>
          </a:p>
        </p:txBody>
      </p:sp>
      <p:sp>
        <p:nvSpPr>
          <p:cNvPr id="7"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8</a:t>
            </a:fld>
            <a:endParaRPr lang="en-US"/>
          </a:p>
        </p:txBody>
      </p:sp>
    </p:spTree>
    <p:extLst>
      <p:ext uri="{BB962C8B-B14F-4D97-AF65-F5344CB8AC3E}">
        <p14:creationId xmlns:p14="http://schemas.microsoft.com/office/powerpoint/2010/main" val="3577008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Problem </a:t>
            </a:r>
            <a:r>
              <a:rPr lang="en-GB" sz="2400" dirty="0"/>
              <a:t>#1</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sz="half" idx="1"/>
          </p:nvPr>
        </p:nvSpPr>
        <p:spPr/>
        <p:txBody>
          <a:bodyPr>
            <a:normAutofit/>
          </a:bodyPr>
          <a:lstStyle/>
          <a:p>
            <a:pPr marL="0" indent="0" algn="just">
              <a:buNone/>
            </a:pPr>
            <a:r>
              <a:rPr lang="en-GB" altLang="en-US" sz="2000" i="1" dirty="0" smtClean="0"/>
              <a:t>GPIO modes:</a:t>
            </a:r>
          </a:p>
          <a:p>
            <a:pPr algn="just"/>
            <a:r>
              <a:rPr lang="en-GB" altLang="en-US" sz="2000" i="1" dirty="0" smtClean="0"/>
              <a:t>Output:</a:t>
            </a:r>
          </a:p>
          <a:p>
            <a:pPr lvl="1" algn="just"/>
            <a:r>
              <a:rPr lang="en-GB" altLang="en-US" sz="1600" i="1" dirty="0" smtClean="0"/>
              <a:t>Push-pull</a:t>
            </a:r>
          </a:p>
          <a:p>
            <a:pPr lvl="1" algn="just"/>
            <a:r>
              <a:rPr lang="en-GB" altLang="en-US" sz="1600" i="1" dirty="0" smtClean="0"/>
              <a:t>Open-drain</a:t>
            </a:r>
          </a:p>
          <a:p>
            <a:pPr algn="just"/>
            <a:r>
              <a:rPr lang="en-GB" altLang="en-US" sz="2000" i="1" dirty="0" smtClean="0"/>
              <a:t>Input:</a:t>
            </a:r>
          </a:p>
          <a:p>
            <a:pPr lvl="1" algn="just"/>
            <a:r>
              <a:rPr lang="en-GB" altLang="en-US" sz="1600" i="1" dirty="0" smtClean="0"/>
              <a:t>Analog</a:t>
            </a:r>
          </a:p>
          <a:p>
            <a:pPr lvl="1" algn="just"/>
            <a:r>
              <a:rPr lang="en-GB" altLang="en-US" sz="1600" i="1" dirty="0" smtClean="0"/>
              <a:t>Floating</a:t>
            </a:r>
          </a:p>
          <a:p>
            <a:pPr lvl="1" algn="just"/>
            <a:r>
              <a:rPr lang="en-GB" altLang="en-US" sz="1600" i="1" dirty="0" smtClean="0"/>
              <a:t>Pull down</a:t>
            </a:r>
          </a:p>
          <a:p>
            <a:pPr lvl="1" algn="just"/>
            <a:r>
              <a:rPr lang="en-GB" altLang="en-US" sz="1600" i="1" dirty="0" smtClean="0"/>
              <a:t>Pull up</a:t>
            </a:r>
          </a:p>
          <a:p>
            <a:pPr algn="just"/>
            <a:endParaRPr lang="en-GB" altLang="en-US" sz="2000" i="1" dirty="0" smtClean="0"/>
          </a:p>
        </p:txBody>
      </p:sp>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779635" y="1728211"/>
            <a:ext cx="3258160" cy="1954899"/>
          </a:xfrm>
        </p:spPr>
      </p:pic>
      <p:sp>
        <p:nvSpPr>
          <p:cNvPr id="3" name="Date Placeholder 2"/>
          <p:cNvSpPr>
            <a:spLocks noGrp="1"/>
          </p:cNvSpPr>
          <p:nvPr>
            <p:ph type="dt" sz="half" idx="10"/>
          </p:nvPr>
        </p:nvSpPr>
        <p:spPr/>
        <p:txBody>
          <a:bodyPr/>
          <a:lstStyle/>
          <a:p>
            <a:fld id="{962A1C72-7C97-4A80-BEDB-F1B897A0A0E1}" type="datetime1">
              <a:rPr lang="en-US" smtClean="0"/>
              <a:t>5/2/2021</a:t>
            </a:fld>
            <a:endParaRPr lang="en-US"/>
          </a:p>
        </p:txBody>
      </p:sp>
      <p:sp>
        <p:nvSpPr>
          <p:cNvPr id="7"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9</a:t>
            </a:fld>
            <a:endParaRPr lang="en-US"/>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0154" y="1635457"/>
            <a:ext cx="2853873" cy="2140405"/>
          </a:xfrm>
          <a:prstGeom prst="rect">
            <a:avLst/>
          </a:prstGeom>
        </p:spPr>
      </p:pic>
    </p:spTree>
    <p:extLst>
      <p:ext uri="{BB962C8B-B14F-4D97-AF65-F5344CB8AC3E}">
        <p14:creationId xmlns:p14="http://schemas.microsoft.com/office/powerpoint/2010/main" val="246848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t>Solution #1</a:t>
            </a:r>
            <a:endParaRPr lang="en-US" sz="2400" dirty="0"/>
          </a:p>
        </p:txBody>
      </p:sp>
      <p:sp>
        <p:nvSpPr>
          <p:cNvPr id="3" name="Content Placeholder 2"/>
          <p:cNvSpPr>
            <a:spLocks noGrp="1"/>
          </p:cNvSpPr>
          <p:nvPr>
            <p:ph sz="half" idx="1"/>
          </p:nvPr>
        </p:nvSpPr>
        <p:spPr/>
        <p:txBody>
          <a:bodyPr/>
          <a:lstStyle/>
          <a:p>
            <a:pPr marL="0" indent="0">
              <a:buNone/>
            </a:pPr>
            <a:r>
              <a:rPr lang="en-GB" i="1" dirty="0" smtClean="0"/>
              <a:t>Push-pull</a:t>
            </a:r>
            <a:endParaRPr lang="en-US" i="1" dirty="0"/>
          </a:p>
        </p:txBody>
      </p:sp>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947133" y="900113"/>
            <a:ext cx="6770560" cy="3771900"/>
          </a:xfrm>
        </p:spPr>
      </p:pic>
      <p:sp>
        <p:nvSpPr>
          <p:cNvPr id="5" name="Date Placeholder 4"/>
          <p:cNvSpPr>
            <a:spLocks noGrp="1"/>
          </p:cNvSpPr>
          <p:nvPr>
            <p:ph type="dt" sz="half" idx="10"/>
          </p:nvPr>
        </p:nvSpPr>
        <p:spPr/>
        <p:txBody>
          <a:bodyPr/>
          <a:lstStyle/>
          <a:p>
            <a:fld id="{3E2AB3E9-7592-48AC-A218-7AC85EB51A08}" type="datetime1">
              <a:rPr lang="en-US" smtClean="0"/>
              <a:t>5/2/2021</a:t>
            </a:fld>
            <a:endParaRPr lang="en-US"/>
          </a:p>
        </p:txBody>
      </p:sp>
      <p:sp>
        <p:nvSpPr>
          <p:cNvPr id="6" name="Footer Placeholder 5"/>
          <p:cNvSpPr>
            <a:spLocks noGrp="1"/>
          </p:cNvSpPr>
          <p:nvPr>
            <p:ph type="ftr" sz="quarter" idx="11"/>
          </p:nvPr>
        </p:nvSpPr>
        <p:spPr/>
        <p:txBody>
          <a:bodyPr/>
          <a:lstStyle/>
          <a:p>
            <a:r>
              <a:rPr lang="en-US" smtClean="0"/>
              <a:t>09e-BM/DT/FSOFT - ©FPT SOFTWARE – Fresher Academy - Internal Use</a:t>
            </a:r>
            <a:endParaRPr lang="en-US"/>
          </a:p>
        </p:txBody>
      </p:sp>
      <p:sp>
        <p:nvSpPr>
          <p:cNvPr id="7" name="Slide Number Placeholder 6"/>
          <p:cNvSpPr>
            <a:spLocks noGrp="1"/>
          </p:cNvSpPr>
          <p:nvPr>
            <p:ph type="sldNum" sz="quarter" idx="12"/>
          </p:nvPr>
        </p:nvSpPr>
        <p:spPr/>
        <p:txBody>
          <a:bodyPr/>
          <a:lstStyle/>
          <a:p>
            <a:fld id="{E3B08AF7-4237-6949-8335-F63F47C2C8CC}" type="slidenum">
              <a:rPr lang="en-US" smtClean="0"/>
              <a:t>10</a:t>
            </a:fld>
            <a:endParaRPr lang="en-US"/>
          </a:p>
        </p:txBody>
      </p:sp>
    </p:spTree>
    <p:extLst>
      <p:ext uri="{BB962C8B-B14F-4D97-AF65-F5344CB8AC3E}">
        <p14:creationId xmlns:p14="http://schemas.microsoft.com/office/powerpoint/2010/main" val="839639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t>Solution #1</a:t>
            </a:r>
            <a:endParaRPr lang="en-US" sz="2400" dirty="0"/>
          </a:p>
        </p:txBody>
      </p:sp>
      <p:sp>
        <p:nvSpPr>
          <p:cNvPr id="3" name="Content Placeholder 2"/>
          <p:cNvSpPr>
            <a:spLocks noGrp="1"/>
          </p:cNvSpPr>
          <p:nvPr>
            <p:ph sz="half" idx="1"/>
          </p:nvPr>
        </p:nvSpPr>
        <p:spPr/>
        <p:txBody>
          <a:bodyPr/>
          <a:lstStyle/>
          <a:p>
            <a:pPr marL="0" indent="0">
              <a:buNone/>
            </a:pPr>
            <a:r>
              <a:rPr lang="en-GB" i="1" dirty="0" smtClean="0"/>
              <a:t>Open drain</a:t>
            </a:r>
            <a:endParaRPr lang="en-US" i="1" dirty="0"/>
          </a:p>
        </p:txBody>
      </p:sp>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419612" y="900113"/>
            <a:ext cx="5825602" cy="3771900"/>
          </a:xfrm>
        </p:spPr>
      </p:pic>
      <p:sp>
        <p:nvSpPr>
          <p:cNvPr id="5" name="Date Placeholder 4"/>
          <p:cNvSpPr>
            <a:spLocks noGrp="1"/>
          </p:cNvSpPr>
          <p:nvPr>
            <p:ph type="dt" sz="half" idx="10"/>
          </p:nvPr>
        </p:nvSpPr>
        <p:spPr/>
        <p:txBody>
          <a:bodyPr/>
          <a:lstStyle/>
          <a:p>
            <a:fld id="{3E2AB3E9-7592-48AC-A218-7AC85EB51A08}" type="datetime1">
              <a:rPr lang="en-US" smtClean="0"/>
              <a:t>5/2/2021</a:t>
            </a:fld>
            <a:endParaRPr lang="en-US"/>
          </a:p>
        </p:txBody>
      </p:sp>
      <p:sp>
        <p:nvSpPr>
          <p:cNvPr id="6" name="Footer Placeholder 5"/>
          <p:cNvSpPr>
            <a:spLocks noGrp="1"/>
          </p:cNvSpPr>
          <p:nvPr>
            <p:ph type="ftr" sz="quarter" idx="11"/>
          </p:nvPr>
        </p:nvSpPr>
        <p:spPr/>
        <p:txBody>
          <a:bodyPr/>
          <a:lstStyle/>
          <a:p>
            <a:r>
              <a:rPr lang="en-US" smtClean="0"/>
              <a:t>09e-BM/DT/FSOFT - ©FPT SOFTWARE – Fresher Academy - Internal Use</a:t>
            </a:r>
            <a:endParaRPr lang="en-US"/>
          </a:p>
        </p:txBody>
      </p:sp>
      <p:sp>
        <p:nvSpPr>
          <p:cNvPr id="7" name="Slide Number Placeholder 6"/>
          <p:cNvSpPr>
            <a:spLocks noGrp="1"/>
          </p:cNvSpPr>
          <p:nvPr>
            <p:ph type="sldNum" sz="quarter" idx="12"/>
          </p:nvPr>
        </p:nvSpPr>
        <p:spPr/>
        <p:txBody>
          <a:bodyPr/>
          <a:lstStyle/>
          <a:p>
            <a:fld id="{E3B08AF7-4237-6949-8335-F63F47C2C8CC}" type="slidenum">
              <a:rPr lang="en-US" smtClean="0"/>
              <a:t>11</a:t>
            </a:fld>
            <a:endParaRPr lang="en-US"/>
          </a:p>
        </p:txBody>
      </p:sp>
    </p:spTree>
    <p:extLst>
      <p:ext uri="{BB962C8B-B14F-4D97-AF65-F5344CB8AC3E}">
        <p14:creationId xmlns:p14="http://schemas.microsoft.com/office/powerpoint/2010/main" val="4007045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t>Solution #1</a:t>
            </a:r>
            <a:endParaRPr lang="en-US" sz="2400" dirty="0"/>
          </a:p>
        </p:txBody>
      </p:sp>
      <p:sp>
        <p:nvSpPr>
          <p:cNvPr id="3" name="Content Placeholder 2"/>
          <p:cNvSpPr>
            <a:spLocks noGrp="1"/>
          </p:cNvSpPr>
          <p:nvPr>
            <p:ph idx="1"/>
          </p:nvPr>
        </p:nvSpPr>
        <p:spPr/>
        <p:txBody>
          <a:bodyPr>
            <a:normAutofit/>
          </a:bodyPr>
          <a:lstStyle/>
          <a:p>
            <a:pPr marL="0" indent="0" algn="ctr">
              <a:buNone/>
            </a:pPr>
            <a:r>
              <a:rPr lang="en-GB" sz="4000" i="1" dirty="0" smtClean="0"/>
              <a:t>Which master is ignored on the bus?</a:t>
            </a:r>
            <a:endParaRPr lang="en-US" sz="4000" i="1" dirty="0"/>
          </a:p>
        </p:txBody>
      </p:sp>
      <p:sp>
        <p:nvSpPr>
          <p:cNvPr id="5" name="Date Placeholder 4"/>
          <p:cNvSpPr>
            <a:spLocks noGrp="1"/>
          </p:cNvSpPr>
          <p:nvPr>
            <p:ph type="dt" sz="half" idx="10"/>
          </p:nvPr>
        </p:nvSpPr>
        <p:spPr/>
        <p:txBody>
          <a:bodyPr/>
          <a:lstStyle/>
          <a:p>
            <a:fld id="{3E2AB3E9-7592-48AC-A218-7AC85EB51A08}" type="datetime1">
              <a:rPr lang="en-US" smtClean="0"/>
              <a:t>5/2/2021</a:t>
            </a:fld>
            <a:endParaRPr lang="en-US"/>
          </a:p>
        </p:txBody>
      </p:sp>
      <p:sp>
        <p:nvSpPr>
          <p:cNvPr id="6" name="Footer Placeholder 5"/>
          <p:cNvSpPr>
            <a:spLocks noGrp="1"/>
          </p:cNvSpPr>
          <p:nvPr>
            <p:ph type="ftr" sz="quarter" idx="11"/>
          </p:nvPr>
        </p:nvSpPr>
        <p:spPr/>
        <p:txBody>
          <a:bodyPr/>
          <a:lstStyle/>
          <a:p>
            <a:r>
              <a:rPr lang="en-US" smtClean="0"/>
              <a:t>09e-BM/DT/FSOFT - ©FPT SOFTWARE – Fresher Academy - Internal Use</a:t>
            </a:r>
            <a:endParaRPr lang="en-US"/>
          </a:p>
        </p:txBody>
      </p:sp>
      <p:sp>
        <p:nvSpPr>
          <p:cNvPr id="7" name="Slide Number Placeholder 6"/>
          <p:cNvSpPr>
            <a:spLocks noGrp="1"/>
          </p:cNvSpPr>
          <p:nvPr>
            <p:ph type="sldNum" sz="quarter" idx="12"/>
          </p:nvPr>
        </p:nvSpPr>
        <p:spPr/>
        <p:txBody>
          <a:bodyPr/>
          <a:lstStyle/>
          <a:p>
            <a:fld id="{E3B08AF7-4237-6949-8335-F63F47C2C8CC}" type="slidenum">
              <a:rPr lang="en-US" smtClean="0"/>
              <a:t>12</a:t>
            </a:fld>
            <a:endParaRPr lang="en-US"/>
          </a:p>
        </p:txBody>
      </p:sp>
      <p:pic>
        <p:nvPicPr>
          <p:cNvPr id="9" name="Content Placeholder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9612" y="1998459"/>
            <a:ext cx="4129234" cy="2673553"/>
          </a:xfrm>
          <a:prstGeom prst="rect">
            <a:avLst/>
          </a:prstGeom>
        </p:spPr>
      </p:pic>
    </p:spTree>
    <p:extLst>
      <p:ext uri="{BB962C8B-B14F-4D97-AF65-F5344CB8AC3E}">
        <p14:creationId xmlns:p14="http://schemas.microsoft.com/office/powerpoint/2010/main" val="36389812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Problem #2</a:t>
            </a:r>
            <a:endParaRPr lang="en-US" sz="2400" dirty="0"/>
          </a:p>
        </p:txBody>
      </p:sp>
      <p:sp>
        <p:nvSpPr>
          <p:cNvPr id="4" name="Content Placeholder 3"/>
          <p:cNvSpPr>
            <a:spLocks noGrp="1"/>
          </p:cNvSpPr>
          <p:nvPr>
            <p:ph idx="1"/>
          </p:nvPr>
        </p:nvSpPr>
        <p:spPr/>
        <p:txBody>
          <a:bodyPr>
            <a:normAutofit/>
          </a:bodyPr>
          <a:lstStyle/>
          <a:p>
            <a:r>
              <a:rPr lang="en-GB" sz="2000" i="1" dirty="0" smtClean="0"/>
              <a:t>Semiconductor devices always contain capacitance</a:t>
            </a:r>
          </a:p>
          <a:p>
            <a:pPr marL="0" indent="0" algn="ctr">
              <a:buNone/>
            </a:pPr>
            <a:r>
              <a:rPr lang="en-GB" sz="2000" i="1" dirty="0" smtClean="0"/>
              <a:t>t ~ RC</a:t>
            </a:r>
          </a:p>
          <a:p>
            <a:pPr marL="0" indent="0">
              <a:buNone/>
            </a:pPr>
            <a:endParaRPr lang="en-GB" sz="2000" i="1" dirty="0"/>
          </a:p>
          <a:p>
            <a:pPr marL="0" indent="0">
              <a:buNone/>
            </a:pPr>
            <a:endParaRPr lang="en-GB" sz="2000" i="1" dirty="0" smtClean="0"/>
          </a:p>
          <a:p>
            <a:pPr marL="0" indent="0">
              <a:buNone/>
            </a:pPr>
            <a:endParaRPr lang="en-GB" sz="2000" i="1" dirty="0"/>
          </a:p>
          <a:p>
            <a:pPr>
              <a:buFont typeface="Symbol" panose="05050102010706020507" pitchFamily="18" charset="2"/>
              <a:buChar char="Þ"/>
            </a:pPr>
            <a:r>
              <a:rPr lang="en-GB" sz="2000" i="1" dirty="0" smtClean="0"/>
              <a:t>Pull-up resister with high resistance value will decrease frequency of this communication protocol.</a:t>
            </a:r>
          </a:p>
          <a:p>
            <a:pPr>
              <a:buFont typeface="Symbol" panose="05050102010706020507" pitchFamily="18" charset="2"/>
              <a:buChar char="Þ"/>
            </a:pPr>
            <a:r>
              <a:rPr lang="en-GB" sz="2000" i="1" dirty="0" smtClean="0"/>
              <a:t>But lower resistance value will be cause of higher current (I) in circuit.</a:t>
            </a:r>
          </a:p>
        </p:txBody>
      </p:sp>
      <p:sp>
        <p:nvSpPr>
          <p:cNvPr id="5" name="Date Placeholder 4"/>
          <p:cNvSpPr>
            <a:spLocks noGrp="1"/>
          </p:cNvSpPr>
          <p:nvPr>
            <p:ph type="dt" sz="half" idx="10"/>
          </p:nvPr>
        </p:nvSpPr>
        <p:spPr/>
        <p:txBody>
          <a:bodyPr/>
          <a:lstStyle/>
          <a:p>
            <a:fld id="{3E2AB3E9-7592-48AC-A218-7AC85EB51A08}" type="datetime1">
              <a:rPr lang="en-US" smtClean="0"/>
              <a:t>5/2/2021</a:t>
            </a:fld>
            <a:endParaRPr lang="en-US"/>
          </a:p>
        </p:txBody>
      </p:sp>
      <p:sp>
        <p:nvSpPr>
          <p:cNvPr id="6" name="Footer Placeholder 5"/>
          <p:cNvSpPr>
            <a:spLocks noGrp="1"/>
          </p:cNvSpPr>
          <p:nvPr>
            <p:ph type="ftr" sz="quarter" idx="11"/>
          </p:nvPr>
        </p:nvSpPr>
        <p:spPr/>
        <p:txBody>
          <a:bodyPr/>
          <a:lstStyle/>
          <a:p>
            <a:r>
              <a:rPr lang="en-US" smtClean="0"/>
              <a:t>09e-BM/DT/FSOFT - ©FPT SOFTWARE – Fresher Academy - Internal Use</a:t>
            </a:r>
            <a:endParaRPr lang="en-US"/>
          </a:p>
        </p:txBody>
      </p:sp>
      <p:sp>
        <p:nvSpPr>
          <p:cNvPr id="7" name="Slide Number Placeholder 6"/>
          <p:cNvSpPr>
            <a:spLocks noGrp="1"/>
          </p:cNvSpPr>
          <p:nvPr>
            <p:ph type="sldNum" sz="quarter" idx="12"/>
          </p:nvPr>
        </p:nvSpPr>
        <p:spPr/>
        <p:txBody>
          <a:bodyPr/>
          <a:lstStyle/>
          <a:p>
            <a:fld id="{E3B08AF7-4237-6949-8335-F63F47C2C8CC}" type="slidenum">
              <a:rPr lang="en-US" smtClean="0"/>
              <a:t>13</a:t>
            </a:fld>
            <a:endParaRPr lang="en-US"/>
          </a:p>
        </p:txBody>
      </p:sp>
      <p:pic>
        <p:nvPicPr>
          <p:cNvPr id="10" name="Content Placeholder 9"/>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1631309" y="1682234"/>
            <a:ext cx="5243819" cy="1040130"/>
          </a:xfrm>
        </p:spPr>
      </p:pic>
    </p:spTree>
    <p:extLst>
      <p:ext uri="{BB962C8B-B14F-4D97-AF65-F5344CB8AC3E}">
        <p14:creationId xmlns:p14="http://schemas.microsoft.com/office/powerpoint/2010/main" val="15585624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Solution #2</a:t>
            </a:r>
            <a:endParaRPr lang="en-US" sz="2400" dirty="0"/>
          </a:p>
        </p:txBody>
      </p:sp>
      <p:sp>
        <p:nvSpPr>
          <p:cNvPr id="3" name="Content Placeholder 2"/>
          <p:cNvSpPr>
            <a:spLocks noGrp="1"/>
          </p:cNvSpPr>
          <p:nvPr>
            <p:ph sz="half" idx="1"/>
          </p:nvPr>
        </p:nvSpPr>
        <p:spPr/>
        <p:txBody>
          <a:bodyPr>
            <a:normAutofit/>
          </a:bodyPr>
          <a:lstStyle/>
          <a:p>
            <a:r>
              <a:rPr lang="en-GB" sz="2000" i="1" dirty="0" smtClean="0"/>
              <a:t>Provide devices, PCB with lower capacitance value</a:t>
            </a:r>
          </a:p>
          <a:p>
            <a:r>
              <a:rPr lang="en-GB" sz="2000" i="1" dirty="0" smtClean="0"/>
              <a:t>Decrease number of devices in circuit to decrease capacitance of circuit</a:t>
            </a:r>
            <a:endParaRPr lang="en-US" sz="2000" i="1" dirty="0"/>
          </a:p>
          <a:p>
            <a:r>
              <a:rPr lang="en-GB" sz="2000" i="1" dirty="0" smtClean="0"/>
              <a:t>Customers have to calculate value of the pull-up resisters.</a:t>
            </a:r>
            <a:endParaRPr lang="en-US" sz="2000" i="1" dirty="0"/>
          </a:p>
        </p:txBody>
      </p:sp>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648199" y="900113"/>
            <a:ext cx="4252913" cy="2565898"/>
          </a:xfrm>
        </p:spPr>
      </p:pic>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14</a:t>
            </a:fld>
            <a:endParaRPr lang="en-US"/>
          </a:p>
        </p:txBody>
      </p:sp>
    </p:spTree>
    <p:extLst>
      <p:ext uri="{BB962C8B-B14F-4D97-AF65-F5344CB8AC3E}">
        <p14:creationId xmlns:p14="http://schemas.microsoft.com/office/powerpoint/2010/main" val="4187079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Problem #3</a:t>
            </a:r>
            <a:endParaRPr lang="en-US" sz="2400" dirty="0"/>
          </a:p>
        </p:txBody>
      </p:sp>
      <p:sp>
        <p:nvSpPr>
          <p:cNvPr id="3" name="Content Placeholder 2"/>
          <p:cNvSpPr>
            <a:spLocks noGrp="1"/>
          </p:cNvSpPr>
          <p:nvPr>
            <p:ph idx="1"/>
          </p:nvPr>
        </p:nvSpPr>
        <p:spPr/>
        <p:txBody>
          <a:bodyPr>
            <a:normAutofit/>
          </a:bodyPr>
          <a:lstStyle/>
          <a:p>
            <a:r>
              <a:rPr lang="en-GB" i="1" dirty="0" smtClean="0"/>
              <a:t>How do master select one slave to communicate at a time?</a:t>
            </a:r>
          </a:p>
          <a:p>
            <a:endParaRPr lang="en-GB" i="1" dirty="0"/>
          </a:p>
          <a:p>
            <a:r>
              <a:rPr lang="en-GB" i="1" dirty="0" smtClean="0"/>
              <a:t>How do master and slave handshake,</a:t>
            </a:r>
          </a:p>
          <a:p>
            <a:pPr marL="0" indent="0">
              <a:buNone/>
            </a:pPr>
            <a:r>
              <a:rPr lang="en-GB" i="1" dirty="0" smtClean="0"/>
              <a:t>plug-play?</a:t>
            </a:r>
            <a:endParaRPr lang="en-US" i="1"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15</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5234" y="1428772"/>
            <a:ext cx="2925878" cy="2933212"/>
          </a:xfrm>
          <a:prstGeom prst="rect">
            <a:avLst/>
          </a:prstGeom>
        </p:spPr>
      </p:pic>
    </p:spTree>
    <p:extLst>
      <p:ext uri="{BB962C8B-B14F-4D97-AF65-F5344CB8AC3E}">
        <p14:creationId xmlns:p14="http://schemas.microsoft.com/office/powerpoint/2010/main" val="2785872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Solution #3</a:t>
            </a:r>
            <a:endParaRPr lang="en-US" sz="2400" dirty="0"/>
          </a:p>
        </p:txBody>
      </p:sp>
      <p:sp>
        <p:nvSpPr>
          <p:cNvPr id="3" name="Content Placeholder 2"/>
          <p:cNvSpPr>
            <a:spLocks noGrp="1"/>
          </p:cNvSpPr>
          <p:nvPr>
            <p:ph idx="1"/>
          </p:nvPr>
        </p:nvSpPr>
        <p:spPr/>
        <p:txBody>
          <a:bodyPr/>
          <a:lstStyle/>
          <a:p>
            <a:r>
              <a:rPr lang="en-GB" i="1" dirty="0" smtClean="0"/>
              <a:t>Provide each device in this bus a unique address</a:t>
            </a:r>
          </a:p>
          <a:p>
            <a:endParaRPr lang="en-GB" i="1" dirty="0"/>
          </a:p>
          <a:p>
            <a:r>
              <a:rPr lang="en-GB" i="1" dirty="0" smtClean="0"/>
              <a:t>Handshaking and Plug-play:</a:t>
            </a:r>
          </a:p>
          <a:p>
            <a:pPr lvl="1"/>
            <a:r>
              <a:rPr lang="en-GB" i="1" dirty="0" smtClean="0"/>
              <a:t>1 bit ACK/ NACK after each byte</a:t>
            </a:r>
          </a:p>
          <a:p>
            <a:pPr lvl="1"/>
            <a:r>
              <a:rPr lang="en-GB" i="1" dirty="0" smtClean="0"/>
              <a:t>Slave controls the clock</a:t>
            </a:r>
          </a:p>
          <a:p>
            <a:pPr lvl="1"/>
            <a:endParaRPr lang="en-US" i="1"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16</a:t>
            </a:fld>
            <a:endParaRPr lang="en-US"/>
          </a:p>
        </p:txBody>
      </p:sp>
    </p:spTree>
    <p:extLst>
      <p:ext uri="{BB962C8B-B14F-4D97-AF65-F5344CB8AC3E}">
        <p14:creationId xmlns:p14="http://schemas.microsoft.com/office/powerpoint/2010/main" val="1754562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8974" y="874169"/>
            <a:ext cx="3893094" cy="3893094"/>
          </a:xfrm>
        </p:spPr>
      </p:pic>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17</a:t>
            </a:fld>
            <a:endParaRPr lang="en-US"/>
          </a:p>
        </p:txBody>
      </p:sp>
    </p:spTree>
    <p:extLst>
      <p:ext uri="{BB962C8B-B14F-4D97-AF65-F5344CB8AC3E}">
        <p14:creationId xmlns:p14="http://schemas.microsoft.com/office/powerpoint/2010/main" val="3896698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Inter integrated circuit introduction</a:t>
            </a:r>
            <a:endParaRPr lang="en-US" sz="2400" dirty="0"/>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89038" y="1269206"/>
            <a:ext cx="6800850" cy="2905125"/>
          </a:xfrm>
        </p:spPr>
      </p:pic>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18</a:t>
            </a:fld>
            <a:endParaRPr lang="en-US"/>
          </a:p>
        </p:txBody>
      </p:sp>
    </p:spTree>
    <p:extLst>
      <p:ext uri="{BB962C8B-B14F-4D97-AF65-F5344CB8AC3E}">
        <p14:creationId xmlns:p14="http://schemas.microsoft.com/office/powerpoint/2010/main" val="3335535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Inter integrated circuit introduction</a:t>
            </a:r>
            <a:endParaRPr lang="en-US" sz="2400"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19</a:t>
            </a:fld>
            <a:endParaRPr lang="en-US"/>
          </a:p>
        </p:txBody>
      </p:sp>
      <p:sp>
        <p:nvSpPr>
          <p:cNvPr id="9" name="Content Placeholder 8"/>
          <p:cNvSpPr>
            <a:spLocks noGrp="1"/>
          </p:cNvSpPr>
          <p:nvPr>
            <p:ph idx="1"/>
          </p:nvPr>
        </p:nvSpPr>
        <p:spPr/>
        <p:txBody>
          <a:bodyPr>
            <a:normAutofit/>
          </a:bodyPr>
          <a:lstStyle/>
          <a:p>
            <a:r>
              <a:rPr lang="en-GB" sz="2000" i="1" dirty="0" smtClean="0"/>
              <a:t>Speed:</a:t>
            </a:r>
          </a:p>
          <a:p>
            <a:pPr lvl="1"/>
            <a:r>
              <a:rPr lang="en-GB" sz="1600" i="1" dirty="0" smtClean="0"/>
              <a:t>Standard mode: up to 100 </a:t>
            </a:r>
            <a:r>
              <a:rPr lang="en-GB" sz="1600" i="1" dirty="0" err="1" smtClean="0"/>
              <a:t>kbit</a:t>
            </a:r>
            <a:r>
              <a:rPr lang="en-GB" sz="1600" i="1" dirty="0" smtClean="0"/>
              <a:t>/s</a:t>
            </a:r>
          </a:p>
          <a:p>
            <a:pPr lvl="1"/>
            <a:r>
              <a:rPr lang="en-GB" sz="1600" i="1" dirty="0" smtClean="0"/>
              <a:t>Fast mode: up to 400 </a:t>
            </a:r>
            <a:r>
              <a:rPr lang="en-GB" sz="1600" i="1" dirty="0" err="1" smtClean="0"/>
              <a:t>kbit</a:t>
            </a:r>
            <a:r>
              <a:rPr lang="en-GB" sz="1600" i="1" dirty="0" smtClean="0"/>
              <a:t>/s</a:t>
            </a:r>
          </a:p>
          <a:p>
            <a:pPr lvl="1"/>
            <a:r>
              <a:rPr lang="en-GB" sz="1600" i="1" dirty="0" smtClean="0"/>
              <a:t>Fast mode plus: up to 1Mbit/s</a:t>
            </a:r>
          </a:p>
          <a:p>
            <a:pPr lvl="1"/>
            <a:r>
              <a:rPr lang="en-GB" sz="1600" i="1" dirty="0" smtClean="0"/>
              <a:t>High-speed mode: up to 3.4Mbit/s</a:t>
            </a:r>
          </a:p>
          <a:p>
            <a:pPr lvl="1"/>
            <a:r>
              <a:rPr lang="en-GB" sz="1600" i="1" dirty="0" smtClean="0"/>
              <a:t>Ultra-fast mode: up to 5Mbit/s (unidirectional bus)</a:t>
            </a:r>
            <a:endParaRPr lang="en-US" sz="1600" i="1" dirty="0"/>
          </a:p>
          <a:p>
            <a:r>
              <a:rPr lang="en-GB" sz="2000" i="1" dirty="0" smtClean="0"/>
              <a:t>Max capacitance load: 400pF</a:t>
            </a:r>
          </a:p>
          <a:p>
            <a:r>
              <a:rPr lang="en-GB" sz="2000" i="1" dirty="0" smtClean="0"/>
              <a:t>Address length: 7 or 10 bit</a:t>
            </a:r>
          </a:p>
          <a:p>
            <a:r>
              <a:rPr lang="en-GB" sz="2000" i="1" dirty="0" smtClean="0"/>
              <a:t>Voltage level: various</a:t>
            </a:r>
            <a:r>
              <a:rPr lang="en-GB" sz="2000" i="1" dirty="0"/>
              <a:t>, </a:t>
            </a:r>
            <a:r>
              <a:rPr lang="en-GB" sz="2000" i="1" dirty="0" smtClean="0"/>
              <a:t>typical </a:t>
            </a:r>
            <a:r>
              <a:rPr lang="en-GB" sz="2000" i="1" dirty="0"/>
              <a:t>voltages used are </a:t>
            </a:r>
            <a:r>
              <a:rPr lang="en-GB" sz="2000" i="1" dirty="0" smtClean="0"/>
              <a:t>1.8V, 3.3V, 5V</a:t>
            </a:r>
            <a:endParaRPr lang="en-US" sz="2000" i="1" dirty="0"/>
          </a:p>
        </p:txBody>
      </p:sp>
    </p:spTree>
    <p:extLst>
      <p:ext uri="{BB962C8B-B14F-4D97-AF65-F5344CB8AC3E}">
        <p14:creationId xmlns:p14="http://schemas.microsoft.com/office/powerpoint/2010/main" val="771664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Data</a:t>
            </a:r>
            <a:endParaRPr lang="en-US" sz="2400"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20</a:t>
            </a:fld>
            <a:endParaRPr lang="en-US"/>
          </a:p>
        </p:txBody>
      </p:sp>
      <p:pic>
        <p:nvPicPr>
          <p:cNvPr id="9" name="Picture 8"/>
          <p:cNvPicPr>
            <a:picLocks noChangeAspect="1"/>
          </p:cNvPicPr>
          <p:nvPr/>
        </p:nvPicPr>
        <p:blipFill>
          <a:blip r:embed="rId3"/>
          <a:stretch>
            <a:fillRect/>
          </a:stretch>
        </p:blipFill>
        <p:spPr>
          <a:xfrm>
            <a:off x="1571625" y="1466850"/>
            <a:ext cx="6000750" cy="2209800"/>
          </a:xfrm>
          <a:prstGeom prst="rect">
            <a:avLst/>
          </a:prstGeom>
        </p:spPr>
      </p:pic>
    </p:spTree>
    <p:extLst>
      <p:ext uri="{BB962C8B-B14F-4D97-AF65-F5344CB8AC3E}">
        <p14:creationId xmlns:p14="http://schemas.microsoft.com/office/powerpoint/2010/main" val="1544062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Start</a:t>
            </a:r>
            <a:r>
              <a:rPr lang="en-GB" sz="2400" dirty="0"/>
              <a:t> </a:t>
            </a:r>
            <a:r>
              <a:rPr lang="en-GB" sz="2400" dirty="0" smtClean="0"/>
              <a:t>and Stop </a:t>
            </a:r>
            <a:endParaRPr lang="en-US" sz="2400" dirty="0"/>
          </a:p>
        </p:txBody>
      </p:sp>
      <p:pic>
        <p:nvPicPr>
          <p:cNvPr id="7" name="Content Placeholder 6"/>
          <p:cNvPicPr>
            <a:picLocks noGrp="1" noChangeAspect="1"/>
          </p:cNvPicPr>
          <p:nvPr>
            <p:ph idx="1"/>
          </p:nvPr>
        </p:nvPicPr>
        <p:blipFill>
          <a:blip r:embed="rId3"/>
          <a:stretch>
            <a:fillRect/>
          </a:stretch>
        </p:blipFill>
        <p:spPr>
          <a:xfrm>
            <a:off x="1160844" y="849313"/>
            <a:ext cx="6857237" cy="3744912"/>
          </a:xfrm>
          <a:prstGeom prst="rect">
            <a:avLst/>
          </a:prstGeom>
        </p:spPr>
      </p:pic>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21</a:t>
            </a:fld>
            <a:endParaRPr lang="en-US"/>
          </a:p>
        </p:txBody>
      </p:sp>
    </p:spTree>
    <p:extLst>
      <p:ext uri="{BB962C8B-B14F-4D97-AF65-F5344CB8AC3E}">
        <p14:creationId xmlns:p14="http://schemas.microsoft.com/office/powerpoint/2010/main" val="781977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ACK and NACK</a:t>
            </a:r>
            <a:endParaRPr lang="en-US" sz="2400" dirty="0"/>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87951" y="1029290"/>
            <a:ext cx="4633911" cy="1743688"/>
          </a:xfrm>
        </p:spPr>
      </p:pic>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22</a:t>
            </a:fld>
            <a:endParaRPr lang="en-US"/>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7951" y="2772978"/>
            <a:ext cx="4217352" cy="1698014"/>
          </a:xfrm>
          <a:prstGeom prst="rect">
            <a:avLst/>
          </a:prstGeom>
        </p:spPr>
      </p:pic>
    </p:spTree>
    <p:extLst>
      <p:ext uri="{BB962C8B-B14F-4D97-AF65-F5344CB8AC3E}">
        <p14:creationId xmlns:p14="http://schemas.microsoft.com/office/powerpoint/2010/main" val="2101157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Data transmission</a:t>
            </a:r>
            <a:endParaRPr lang="en-US" sz="2400" dirty="0"/>
          </a:p>
        </p:txBody>
      </p:sp>
      <p:pic>
        <p:nvPicPr>
          <p:cNvPr id="7" name="Content Placeholder 6"/>
          <p:cNvPicPr>
            <a:picLocks noGrp="1" noChangeAspect="1"/>
          </p:cNvPicPr>
          <p:nvPr>
            <p:ph idx="1"/>
          </p:nvPr>
        </p:nvPicPr>
        <p:blipFill>
          <a:blip r:embed="rId2"/>
          <a:stretch>
            <a:fillRect/>
          </a:stretch>
        </p:blipFill>
        <p:spPr>
          <a:xfrm>
            <a:off x="277813" y="1235936"/>
            <a:ext cx="8623300" cy="2971665"/>
          </a:xfrm>
          <a:prstGeom prst="rect">
            <a:avLst/>
          </a:prstGeom>
        </p:spPr>
      </p:pic>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23</a:t>
            </a:fld>
            <a:endParaRPr lang="en-US"/>
          </a:p>
        </p:txBody>
      </p:sp>
    </p:spTree>
    <p:extLst>
      <p:ext uri="{BB962C8B-B14F-4D97-AF65-F5344CB8AC3E}">
        <p14:creationId xmlns:p14="http://schemas.microsoft.com/office/powerpoint/2010/main" val="1035569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Data reception</a:t>
            </a:r>
            <a:endParaRPr lang="en-US" sz="2400"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24</a:t>
            </a:fld>
            <a:endParaRPr lang="en-US"/>
          </a:p>
        </p:txBody>
      </p:sp>
      <p:pic>
        <p:nvPicPr>
          <p:cNvPr id="7" name="Picture 6"/>
          <p:cNvPicPr>
            <a:picLocks noChangeAspect="1"/>
          </p:cNvPicPr>
          <p:nvPr/>
        </p:nvPicPr>
        <p:blipFill>
          <a:blip r:embed="rId2"/>
          <a:stretch>
            <a:fillRect/>
          </a:stretch>
        </p:blipFill>
        <p:spPr>
          <a:xfrm>
            <a:off x="305409" y="1191165"/>
            <a:ext cx="8568898" cy="2144217"/>
          </a:xfrm>
          <a:prstGeom prst="rect">
            <a:avLst/>
          </a:prstGeom>
        </p:spPr>
      </p:pic>
    </p:spTree>
    <p:extLst>
      <p:ext uri="{BB962C8B-B14F-4D97-AF65-F5344CB8AC3E}">
        <p14:creationId xmlns:p14="http://schemas.microsoft.com/office/powerpoint/2010/main" val="4164839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I2C procedure</a:t>
            </a:r>
            <a:endParaRPr lang="en-US" sz="2400"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25</a:t>
            </a:fld>
            <a:endParaRPr lang="en-US"/>
          </a:p>
        </p:txBody>
      </p:sp>
      <p:sp>
        <p:nvSpPr>
          <p:cNvPr id="9" name="Content Placeholder 8"/>
          <p:cNvSpPr>
            <a:spLocks noGrp="1"/>
          </p:cNvSpPr>
          <p:nvPr>
            <p:ph idx="1"/>
          </p:nvPr>
        </p:nvSpPr>
        <p:spPr/>
        <p:txBody>
          <a:bodyPr>
            <a:normAutofit/>
          </a:bodyPr>
          <a:lstStyle/>
          <a:p>
            <a:pPr marL="457200" indent="-457200">
              <a:buFont typeface="+mj-lt"/>
              <a:buAutoNum type="arabicPeriod"/>
            </a:pPr>
            <a:r>
              <a:rPr lang="en-GB" sz="2000" i="1" dirty="0" smtClean="0"/>
              <a:t>Wait the bus is free</a:t>
            </a:r>
            <a:endParaRPr lang="en-US" sz="2000" i="1" dirty="0"/>
          </a:p>
          <a:p>
            <a:pPr marL="457200" indent="-457200">
              <a:buFont typeface="+mj-lt"/>
              <a:buAutoNum type="arabicPeriod"/>
            </a:pPr>
            <a:r>
              <a:rPr lang="en-GB" sz="2000" i="1" dirty="0" smtClean="0"/>
              <a:t>Send START</a:t>
            </a:r>
          </a:p>
          <a:p>
            <a:pPr marL="457200" indent="-457200">
              <a:buFont typeface="+mj-lt"/>
              <a:buAutoNum type="arabicPeriod"/>
            </a:pPr>
            <a:r>
              <a:rPr lang="en-GB" sz="2000" i="1" dirty="0" smtClean="0"/>
              <a:t>Provide CLOCK</a:t>
            </a:r>
          </a:p>
          <a:p>
            <a:pPr marL="457200" indent="-457200">
              <a:buFont typeface="+mj-lt"/>
              <a:buAutoNum type="arabicPeriod"/>
            </a:pPr>
            <a:r>
              <a:rPr lang="en-GB" sz="2000" i="1" dirty="0" smtClean="0"/>
              <a:t>Send ADDRESS, R/W bit</a:t>
            </a:r>
          </a:p>
          <a:p>
            <a:pPr marL="457200" indent="-457200">
              <a:buFont typeface="+mj-lt"/>
              <a:buAutoNum type="arabicPeriod"/>
            </a:pPr>
            <a:r>
              <a:rPr lang="en-GB" sz="2000" i="1" dirty="0" smtClean="0"/>
              <a:t>Receive ACK/NACK</a:t>
            </a:r>
          </a:p>
          <a:p>
            <a:pPr marL="457200" indent="-457200">
              <a:buFont typeface="+mj-lt"/>
              <a:buAutoNum type="arabicPeriod"/>
            </a:pPr>
            <a:r>
              <a:rPr lang="en-GB" sz="2000" i="1" dirty="0" smtClean="0"/>
              <a:t>Send or receive DATA</a:t>
            </a:r>
          </a:p>
          <a:p>
            <a:pPr marL="457200" indent="-457200">
              <a:buFont typeface="+mj-lt"/>
              <a:buAutoNum type="arabicPeriod"/>
            </a:pPr>
            <a:r>
              <a:rPr lang="en-GB" sz="2000" i="1" dirty="0" smtClean="0"/>
              <a:t>Receive ACK/NACK after each 8bit</a:t>
            </a:r>
          </a:p>
          <a:p>
            <a:pPr marL="457200" indent="-457200">
              <a:buFont typeface="+mj-lt"/>
              <a:buAutoNum type="arabicPeriod"/>
            </a:pPr>
            <a:r>
              <a:rPr lang="en-GB" sz="2000" i="1" dirty="0" smtClean="0"/>
              <a:t>Send STOP</a:t>
            </a:r>
            <a:endParaRPr lang="en-US" sz="2000" i="1" dirty="0"/>
          </a:p>
        </p:txBody>
      </p:sp>
    </p:spTree>
    <p:extLst>
      <p:ext uri="{BB962C8B-B14F-4D97-AF65-F5344CB8AC3E}">
        <p14:creationId xmlns:p14="http://schemas.microsoft.com/office/powerpoint/2010/main" val="566315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Pull-up resistor</a:t>
            </a:r>
            <a:endParaRPr lang="en-US" sz="2400"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26</a:t>
            </a:fld>
            <a:endParaRPr lang="en-US"/>
          </a:p>
        </p:txBody>
      </p:sp>
      <p:pic>
        <p:nvPicPr>
          <p:cNvPr id="3" name="Picture 2"/>
          <p:cNvPicPr>
            <a:picLocks noChangeAspect="1"/>
          </p:cNvPicPr>
          <p:nvPr/>
        </p:nvPicPr>
        <p:blipFill>
          <a:blip r:embed="rId3"/>
          <a:stretch>
            <a:fillRect/>
          </a:stretch>
        </p:blipFill>
        <p:spPr>
          <a:xfrm>
            <a:off x="875210" y="923925"/>
            <a:ext cx="3505200" cy="857250"/>
          </a:xfrm>
          <a:prstGeom prst="rect">
            <a:avLst/>
          </a:prstGeom>
        </p:spPr>
      </p:pic>
      <p:pic>
        <p:nvPicPr>
          <p:cNvPr id="7" name="Picture 6"/>
          <p:cNvPicPr>
            <a:picLocks noChangeAspect="1"/>
          </p:cNvPicPr>
          <p:nvPr/>
        </p:nvPicPr>
        <p:blipFill>
          <a:blip r:embed="rId4"/>
          <a:stretch>
            <a:fillRect/>
          </a:stretch>
        </p:blipFill>
        <p:spPr>
          <a:xfrm>
            <a:off x="4647519" y="962025"/>
            <a:ext cx="3419475" cy="819150"/>
          </a:xfrm>
          <a:prstGeom prst="rect">
            <a:avLst/>
          </a:prstGeom>
        </p:spPr>
      </p:pic>
      <p:pic>
        <p:nvPicPr>
          <p:cNvPr id="8" name="Picture 7"/>
          <p:cNvPicPr>
            <a:picLocks noChangeAspect="1"/>
          </p:cNvPicPr>
          <p:nvPr/>
        </p:nvPicPr>
        <p:blipFill>
          <a:blip r:embed="rId5"/>
          <a:stretch>
            <a:fillRect/>
          </a:stretch>
        </p:blipFill>
        <p:spPr>
          <a:xfrm>
            <a:off x="278605" y="1886832"/>
            <a:ext cx="8697736" cy="1918813"/>
          </a:xfrm>
          <a:prstGeom prst="rect">
            <a:avLst/>
          </a:prstGeom>
        </p:spPr>
      </p:pic>
    </p:spTree>
    <p:extLst>
      <p:ext uri="{BB962C8B-B14F-4D97-AF65-F5344CB8AC3E}">
        <p14:creationId xmlns:p14="http://schemas.microsoft.com/office/powerpoint/2010/main" val="3402405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smtClean="0">
                <a:latin typeface="Arial" panose="020B0604020202020204" pitchFamily="34" charset="0"/>
                <a:cs typeface="Arial" panose="020B0604020202020204" pitchFamily="34" charset="0"/>
              </a:rPr>
              <a:t>Section 1</a:t>
            </a:r>
            <a:r>
              <a:rPr lang="en-US" altLang="en-US" sz="2400" smtClean="0">
                <a:latin typeface="Arial" panose="020B0604020202020204" pitchFamily="34" charset="0"/>
                <a:cs typeface="Arial" panose="020B0604020202020204" pitchFamily="34" charset="0"/>
              </a:rPr>
              <a:t>: Summary</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algn="just"/>
            <a:r>
              <a:rPr lang="en-US" altLang="en-US" i="1" dirty="0" smtClean="0"/>
              <a:t>I2C c</a:t>
            </a:r>
            <a:r>
              <a:rPr lang="en-US" altLang="en-US" sz="2400" i="1" dirty="0" smtClean="0">
                <a:latin typeface="Arial" panose="020B0604020202020204" pitchFamily="34" charset="0"/>
                <a:cs typeface="Arial" panose="020B0604020202020204" pitchFamily="34" charset="0"/>
              </a:rPr>
              <a:t>haracteristics</a:t>
            </a:r>
          </a:p>
          <a:p>
            <a:pPr algn="just"/>
            <a:r>
              <a:rPr lang="en-GB" altLang="en-US" i="1" dirty="0" smtClean="0"/>
              <a:t>Data transmission and reception</a:t>
            </a:r>
            <a:endParaRPr lang="en-US" altLang="en-US" sz="2400" i="1" dirty="0">
              <a:latin typeface="Arial" panose="020B0604020202020204" pitchFamily="34" charset="0"/>
              <a:cs typeface="Arial" panose="020B0604020202020204" pitchFamily="34" charset="0"/>
            </a:endParaRPr>
          </a:p>
          <a:p>
            <a:pPr marL="0" indent="0" algn="just">
              <a:buNone/>
            </a:pPr>
            <a:endParaRPr lang="en-US" altLang="en-US" sz="2400" i="1"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C868B440-E2B2-4B31-86A5-B73D743AFA1E}" type="datetime1">
              <a:rPr lang="en-US" smtClean="0"/>
              <a:t>5/2/2021</a:t>
            </a:fld>
            <a:endParaRPr lang="en-US"/>
          </a:p>
        </p:txBody>
      </p:sp>
      <p:sp>
        <p:nvSpPr>
          <p:cNvPr id="7"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27</a:t>
            </a:fld>
            <a:endParaRPr lang="en-US"/>
          </a:p>
        </p:txBody>
      </p:sp>
    </p:spTree>
    <p:extLst>
      <p:ext uri="{BB962C8B-B14F-4D97-AF65-F5344CB8AC3E}">
        <p14:creationId xmlns:p14="http://schemas.microsoft.com/office/powerpoint/2010/main" val="2807787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smtClean="0"/>
              <a:t>Section #1: Q&amp;A</a:t>
            </a:r>
            <a:endParaRPr lang="en-US" sz="2400"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0779" y="849313"/>
            <a:ext cx="5617368" cy="3744912"/>
          </a:xfrm>
        </p:spPr>
      </p:pic>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28</a:t>
            </a:fld>
            <a:endParaRPr lang="en-US"/>
          </a:p>
        </p:txBody>
      </p:sp>
    </p:spTree>
    <p:extLst>
      <p:ext uri="{BB962C8B-B14F-4D97-AF65-F5344CB8AC3E}">
        <p14:creationId xmlns:p14="http://schemas.microsoft.com/office/powerpoint/2010/main" val="2971788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spcBef>
                <a:spcPts val="0"/>
              </a:spcBef>
            </a:pPr>
            <a:r>
              <a:rPr lang="en-US" altLang="en-US" sz="2400" b="0" i="1" cap="none" dirty="0" smtClean="0">
                <a:solidFill>
                  <a:prstClr val="black"/>
                </a:solidFill>
                <a:ea typeface="+mn-ea"/>
              </a:rPr>
              <a:t>Freedom KL46 I2C introduction</a:t>
            </a:r>
            <a:endParaRPr lang="en-US" dirty="0"/>
          </a:p>
        </p:txBody>
      </p:sp>
      <p:sp>
        <p:nvSpPr>
          <p:cNvPr id="6" name="Title 1"/>
          <p:cNvSpPr>
            <a:spLocks noGrp="1"/>
          </p:cNvSpPr>
          <p:nvPr>
            <p:ph type="body" idx="1"/>
          </p:nvPr>
        </p:nvSpPr>
        <p:spPr/>
        <p:txBody>
          <a:bodyPr/>
          <a:lstStyle/>
          <a:p>
            <a:pPr>
              <a:defRPr/>
            </a:pPr>
            <a:r>
              <a:rPr lang="en-GB" dirty="0" smtClean="0">
                <a:latin typeface="Arial" charset="0"/>
                <a:cs typeface="Arial" charset="0"/>
              </a:rPr>
              <a:t>Section 2: Freedom KL46 I2C</a:t>
            </a:r>
            <a:endParaRPr lang="vi-VN" dirty="0" smtClean="0">
              <a:latin typeface="Arial" charset="0"/>
              <a:cs typeface="Arial" charset="0"/>
            </a:endParaRPr>
          </a:p>
        </p:txBody>
      </p:sp>
      <p:sp>
        <p:nvSpPr>
          <p:cNvPr id="3" name="Date Placeholder 2"/>
          <p:cNvSpPr>
            <a:spLocks noGrp="1"/>
          </p:cNvSpPr>
          <p:nvPr>
            <p:ph type="dt" sz="half" idx="10"/>
          </p:nvPr>
        </p:nvSpPr>
        <p:spPr/>
        <p:txBody>
          <a:bodyPr/>
          <a:lstStyle/>
          <a:p>
            <a:fld id="{3EC4B839-39A4-41C9-8F06-DFDBE0D08E6E}" type="datetime1">
              <a:rPr lang="en-US" smtClean="0"/>
              <a:t>5/2/2021</a:t>
            </a:fld>
            <a:endParaRPr lang="en-US"/>
          </a:p>
        </p:txBody>
      </p:sp>
      <p:sp>
        <p:nvSpPr>
          <p:cNvPr id="8"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29</a:t>
            </a:fld>
            <a:endParaRPr lang="en-US"/>
          </a:p>
        </p:txBody>
      </p:sp>
      <p:sp>
        <p:nvSpPr>
          <p:cNvPr id="7" name="Title 1"/>
          <p:cNvSpPr txBox="1">
            <a:spLocks/>
          </p:cNvSpPr>
          <p:nvPr/>
        </p:nvSpPr>
        <p:spPr>
          <a:xfrm>
            <a:off x="457200" y="2339688"/>
            <a:ext cx="8229600" cy="78451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endParaRPr lang="en-US" altLang="en-US" sz="24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9310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sz="2400" dirty="0" smtClean="0"/>
              <a:t>KL46 I2C main features</a:t>
            </a:r>
            <a:endParaRPr lang="en-US" sz="2400" dirty="0"/>
          </a:p>
        </p:txBody>
      </p:sp>
      <p:sp>
        <p:nvSpPr>
          <p:cNvPr id="8" name="Content Placeholder 7"/>
          <p:cNvSpPr>
            <a:spLocks noGrp="1"/>
          </p:cNvSpPr>
          <p:nvPr>
            <p:ph idx="1"/>
          </p:nvPr>
        </p:nvSpPr>
        <p:spPr/>
        <p:txBody>
          <a:bodyPr>
            <a:normAutofit/>
          </a:bodyPr>
          <a:lstStyle/>
          <a:p>
            <a:r>
              <a:rPr lang="en-US" sz="2000" i="1" dirty="0"/>
              <a:t>I2C bus specification </a:t>
            </a:r>
            <a:r>
              <a:rPr lang="en-US" sz="2000" i="1" dirty="0" smtClean="0"/>
              <a:t>support</a:t>
            </a:r>
          </a:p>
          <a:p>
            <a:r>
              <a:rPr lang="en-GB" sz="2000" i="1" dirty="0"/>
              <a:t>Software-selectable acknowledge bit</a:t>
            </a:r>
          </a:p>
          <a:p>
            <a:r>
              <a:rPr lang="en-GB" sz="2000" i="1" dirty="0" smtClean="0"/>
              <a:t>Interrupt-driven </a:t>
            </a:r>
            <a:r>
              <a:rPr lang="en-GB" sz="2000" i="1" dirty="0"/>
              <a:t>byte-by-byte data transfer</a:t>
            </a:r>
          </a:p>
          <a:p>
            <a:r>
              <a:rPr lang="en-GB" sz="2000" i="1" dirty="0" smtClean="0"/>
              <a:t>Arbitration-lost </a:t>
            </a:r>
            <a:r>
              <a:rPr lang="en-GB" sz="2000" i="1" dirty="0"/>
              <a:t>interrupt with automatic mode switching from master to slave</a:t>
            </a:r>
          </a:p>
          <a:p>
            <a:r>
              <a:rPr lang="en-GB" sz="2000" i="1" dirty="0" smtClean="0"/>
              <a:t>Calling </a:t>
            </a:r>
            <a:r>
              <a:rPr lang="en-GB" sz="2000" i="1" dirty="0"/>
              <a:t>address identification </a:t>
            </a:r>
            <a:r>
              <a:rPr lang="en-GB" sz="2000" i="1" dirty="0" smtClean="0"/>
              <a:t>interrupt</a:t>
            </a:r>
          </a:p>
          <a:p>
            <a:r>
              <a:rPr lang="en-GB" sz="2000" i="1" dirty="0"/>
              <a:t>Bus busy detection</a:t>
            </a:r>
          </a:p>
          <a:p>
            <a:r>
              <a:rPr lang="en-GB" sz="2000" i="1" dirty="0" smtClean="0"/>
              <a:t>General </a:t>
            </a:r>
            <a:r>
              <a:rPr lang="en-GB" sz="2000" i="1" dirty="0"/>
              <a:t>call </a:t>
            </a:r>
            <a:r>
              <a:rPr lang="en-GB" sz="2000" i="1" dirty="0" smtClean="0"/>
              <a:t>recognition</a:t>
            </a:r>
          </a:p>
          <a:p>
            <a:r>
              <a:rPr lang="en-GB" sz="2000" i="1" dirty="0" smtClean="0"/>
              <a:t>DMA support</a:t>
            </a:r>
          </a:p>
          <a:p>
            <a:r>
              <a:rPr lang="en-GB" sz="2000" i="1" dirty="0"/>
              <a:t>Support for System Management Bus (</a:t>
            </a:r>
            <a:r>
              <a:rPr lang="en-GB" sz="2000" i="1" dirty="0" err="1"/>
              <a:t>SMBus</a:t>
            </a:r>
            <a:r>
              <a:rPr lang="en-GB" sz="2000" i="1" dirty="0"/>
              <a:t>) Specification, version 2</a:t>
            </a:r>
            <a:endParaRPr lang="en-US" sz="2000" i="1" dirty="0"/>
          </a:p>
        </p:txBody>
      </p:sp>
      <p:sp>
        <p:nvSpPr>
          <p:cNvPr id="4" name="Date Placeholder 3"/>
          <p:cNvSpPr>
            <a:spLocks noGrp="1"/>
          </p:cNvSpPr>
          <p:nvPr>
            <p:ph type="dt" sz="half" idx="10"/>
          </p:nvPr>
        </p:nvSpPr>
        <p:spPr/>
        <p:txBody>
          <a:bodyPr/>
          <a:lstStyle/>
          <a:p>
            <a:fld id="{95690783-B5B6-43F6-9D05-1F8793B02117}"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30</a:t>
            </a:fld>
            <a:endParaRPr lang="en-US"/>
          </a:p>
        </p:txBody>
      </p:sp>
    </p:spTree>
    <p:extLst>
      <p:ext uri="{BB962C8B-B14F-4D97-AF65-F5344CB8AC3E}">
        <p14:creationId xmlns:p14="http://schemas.microsoft.com/office/powerpoint/2010/main" val="32249436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I2C interconnections</a:t>
            </a:r>
            <a:endParaRPr lang="en-US"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31</a:t>
            </a:fld>
            <a:endParaRPr lang="en-US"/>
          </a:p>
        </p:txBody>
      </p:sp>
      <p:pic>
        <p:nvPicPr>
          <p:cNvPr id="7" name="Picture 6"/>
          <p:cNvPicPr>
            <a:picLocks noChangeAspect="1"/>
          </p:cNvPicPr>
          <p:nvPr/>
        </p:nvPicPr>
        <p:blipFill>
          <a:blip r:embed="rId2"/>
          <a:stretch>
            <a:fillRect/>
          </a:stretch>
        </p:blipFill>
        <p:spPr>
          <a:xfrm>
            <a:off x="1147098" y="850106"/>
            <a:ext cx="6885520" cy="3677554"/>
          </a:xfrm>
          <a:prstGeom prst="rect">
            <a:avLst/>
          </a:prstGeom>
        </p:spPr>
      </p:pic>
    </p:spTree>
    <p:extLst>
      <p:ext uri="{BB962C8B-B14F-4D97-AF65-F5344CB8AC3E}">
        <p14:creationId xmlns:p14="http://schemas.microsoft.com/office/powerpoint/2010/main" val="8569445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I2C functional block diagram</a:t>
            </a:r>
            <a:endParaRPr lang="en-US" sz="2400"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32</a:t>
            </a:fld>
            <a:endParaRPr lang="en-US"/>
          </a:p>
        </p:txBody>
      </p:sp>
      <p:pic>
        <p:nvPicPr>
          <p:cNvPr id="7" name="Picture 6"/>
          <p:cNvPicPr>
            <a:picLocks noChangeAspect="1"/>
          </p:cNvPicPr>
          <p:nvPr/>
        </p:nvPicPr>
        <p:blipFill>
          <a:blip r:embed="rId2"/>
          <a:stretch>
            <a:fillRect/>
          </a:stretch>
        </p:blipFill>
        <p:spPr>
          <a:xfrm>
            <a:off x="2025764" y="651530"/>
            <a:ext cx="4508476" cy="4115733"/>
          </a:xfrm>
          <a:prstGeom prst="rect">
            <a:avLst/>
          </a:prstGeom>
        </p:spPr>
      </p:pic>
    </p:spTree>
    <p:extLst>
      <p:ext uri="{BB962C8B-B14F-4D97-AF65-F5344CB8AC3E}">
        <p14:creationId xmlns:p14="http://schemas.microsoft.com/office/powerpoint/2010/main" val="2046457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Initialization</a:t>
            </a:r>
            <a:endParaRPr lang="en-US" sz="2400" dirty="0"/>
          </a:p>
        </p:txBody>
      </p:sp>
      <p:sp>
        <p:nvSpPr>
          <p:cNvPr id="3" name="Content Placeholder 2"/>
          <p:cNvSpPr>
            <a:spLocks noGrp="1"/>
          </p:cNvSpPr>
          <p:nvPr>
            <p:ph idx="1"/>
          </p:nvPr>
        </p:nvSpPr>
        <p:spPr/>
        <p:txBody>
          <a:bodyPr>
            <a:normAutofit/>
          </a:bodyPr>
          <a:lstStyle/>
          <a:p>
            <a:pPr marL="0" indent="0">
              <a:buNone/>
            </a:pPr>
            <a:r>
              <a:rPr lang="en-GB" sz="2000" i="1" dirty="0" smtClean="0"/>
              <a:t>Slave:</a:t>
            </a:r>
            <a:endParaRPr lang="en-US" sz="2000" i="1" dirty="0"/>
          </a:p>
          <a:p>
            <a:pPr marL="457200" indent="-457200">
              <a:buFont typeface="+mj-lt"/>
              <a:buAutoNum type="arabicPeriod"/>
            </a:pPr>
            <a:r>
              <a:rPr lang="en-GB" sz="2000" i="1" dirty="0"/>
              <a:t>1. Write: Control Register 2</a:t>
            </a:r>
          </a:p>
          <a:p>
            <a:pPr lvl="1"/>
            <a:r>
              <a:rPr lang="en-GB" sz="1600" i="1" dirty="0" smtClean="0"/>
              <a:t>to </a:t>
            </a:r>
            <a:r>
              <a:rPr lang="en-GB" sz="1600" i="1" dirty="0"/>
              <a:t>enable or disable general call</a:t>
            </a:r>
          </a:p>
          <a:p>
            <a:pPr lvl="1"/>
            <a:r>
              <a:rPr lang="en-GB" sz="1600" i="1" dirty="0" smtClean="0"/>
              <a:t>to </a:t>
            </a:r>
            <a:r>
              <a:rPr lang="en-GB" sz="1600" i="1" dirty="0"/>
              <a:t>select 10-bit or 7-bit addressing mode</a:t>
            </a:r>
          </a:p>
          <a:p>
            <a:pPr marL="457200" indent="-457200">
              <a:buFont typeface="+mj-lt"/>
              <a:buAutoNum type="arabicPeriod"/>
            </a:pPr>
            <a:r>
              <a:rPr lang="en-GB" sz="2000" i="1" dirty="0" smtClean="0"/>
              <a:t>Write</a:t>
            </a:r>
            <a:r>
              <a:rPr lang="en-GB" sz="2000" i="1" dirty="0"/>
              <a:t>: Address Register 1 to set the slave address</a:t>
            </a:r>
          </a:p>
          <a:p>
            <a:pPr marL="457200" indent="-457200">
              <a:buFont typeface="+mj-lt"/>
              <a:buAutoNum type="arabicPeriod"/>
            </a:pPr>
            <a:r>
              <a:rPr lang="en-GB" sz="2000" i="1" dirty="0" smtClean="0"/>
              <a:t>Write</a:t>
            </a:r>
            <a:r>
              <a:rPr lang="en-GB" sz="2000" i="1" dirty="0"/>
              <a:t>: Control Register 1 to enable the I2C module and interrupts</a:t>
            </a:r>
          </a:p>
          <a:p>
            <a:pPr marL="457200" indent="-457200">
              <a:buFont typeface="+mj-lt"/>
              <a:buAutoNum type="arabicPeriod"/>
            </a:pPr>
            <a:r>
              <a:rPr lang="en-GB" sz="2000" i="1" dirty="0" smtClean="0"/>
              <a:t>Initialize </a:t>
            </a:r>
            <a:r>
              <a:rPr lang="en-GB" sz="2000" i="1" dirty="0"/>
              <a:t>RAM variables (IICEN = 1 and IICIE = 1) for transmit </a:t>
            </a:r>
            <a:r>
              <a:rPr lang="en-GB" sz="2000" i="1" dirty="0" smtClean="0"/>
              <a:t>data</a:t>
            </a:r>
            <a:endParaRPr lang="en-US" sz="2000" i="1" dirty="0"/>
          </a:p>
          <a:p>
            <a:pPr marL="457200" indent="-457200">
              <a:buFont typeface="+mj-lt"/>
              <a:buAutoNum type="arabicPeriod"/>
            </a:pPr>
            <a:r>
              <a:rPr lang="en-GB" sz="2000" i="1" dirty="0" smtClean="0"/>
              <a:t>Interrupt routine</a:t>
            </a:r>
            <a:endParaRPr lang="en-US" sz="2000" i="1"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33</a:t>
            </a:fld>
            <a:endParaRPr lang="en-US"/>
          </a:p>
        </p:txBody>
      </p:sp>
    </p:spTree>
    <p:extLst>
      <p:ext uri="{BB962C8B-B14F-4D97-AF65-F5344CB8AC3E}">
        <p14:creationId xmlns:p14="http://schemas.microsoft.com/office/powerpoint/2010/main" val="32866038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smtClean="0"/>
              <a:t>Initialization</a:t>
            </a:r>
            <a:endParaRPr lang="en-US" sz="2400" dirty="0"/>
          </a:p>
        </p:txBody>
      </p:sp>
      <p:sp>
        <p:nvSpPr>
          <p:cNvPr id="3" name="Content Placeholder 2"/>
          <p:cNvSpPr>
            <a:spLocks noGrp="1"/>
          </p:cNvSpPr>
          <p:nvPr>
            <p:ph idx="1"/>
          </p:nvPr>
        </p:nvSpPr>
        <p:spPr/>
        <p:txBody>
          <a:bodyPr>
            <a:normAutofit/>
          </a:bodyPr>
          <a:lstStyle/>
          <a:p>
            <a:pPr marL="0" indent="0">
              <a:buNone/>
            </a:pPr>
            <a:r>
              <a:rPr lang="en-GB" sz="2000" i="1" dirty="0" smtClean="0"/>
              <a:t>Master:</a:t>
            </a:r>
            <a:endParaRPr lang="en-US" sz="2000" i="1" dirty="0"/>
          </a:p>
          <a:p>
            <a:pPr marL="457200" indent="-457200">
              <a:buFont typeface="+mj-lt"/>
              <a:buAutoNum type="arabicPeriod"/>
            </a:pPr>
            <a:r>
              <a:rPr lang="en-GB" sz="2000" i="1" dirty="0"/>
              <a:t>Write: Frequency Divider register to set the I2C baud </a:t>
            </a:r>
            <a:r>
              <a:rPr lang="en-GB" sz="2000" i="1" dirty="0" smtClean="0"/>
              <a:t>rate</a:t>
            </a:r>
          </a:p>
          <a:p>
            <a:pPr marL="457200" indent="-457200">
              <a:buFont typeface="+mj-lt"/>
              <a:buAutoNum type="arabicPeriod"/>
            </a:pPr>
            <a:r>
              <a:rPr lang="en-GB" sz="2000" i="1" dirty="0"/>
              <a:t>Write: Control Register 1 to enable the I2C module and interrupts</a:t>
            </a:r>
          </a:p>
          <a:p>
            <a:pPr marL="457200" indent="-457200">
              <a:buFont typeface="+mj-lt"/>
              <a:buAutoNum type="arabicPeriod"/>
            </a:pPr>
            <a:r>
              <a:rPr lang="en-GB" sz="2000" i="1" dirty="0" smtClean="0"/>
              <a:t>Initialize </a:t>
            </a:r>
            <a:r>
              <a:rPr lang="en-GB" sz="2000" i="1" dirty="0"/>
              <a:t>RAM variables (IICEN = 1 and IICIE = 1) for transmit data</a:t>
            </a:r>
          </a:p>
          <a:p>
            <a:pPr marL="457200" indent="-457200">
              <a:buFont typeface="+mj-lt"/>
              <a:buAutoNum type="arabicPeriod"/>
            </a:pPr>
            <a:r>
              <a:rPr lang="en-GB" sz="2000" i="1" dirty="0" smtClean="0"/>
              <a:t>Initialize </a:t>
            </a:r>
            <a:r>
              <a:rPr lang="en-GB" sz="2000" i="1" dirty="0"/>
              <a:t>RAM variables used to achieve the routine shown in the following figure</a:t>
            </a:r>
          </a:p>
          <a:p>
            <a:pPr marL="457200" indent="-457200">
              <a:buFont typeface="+mj-lt"/>
              <a:buAutoNum type="arabicPeriod"/>
            </a:pPr>
            <a:r>
              <a:rPr lang="en-GB" sz="2000" i="1" dirty="0" smtClean="0"/>
              <a:t>Write</a:t>
            </a:r>
            <a:r>
              <a:rPr lang="en-GB" sz="2000" i="1" dirty="0"/>
              <a:t>: Control Register 1 to enable </a:t>
            </a:r>
            <a:r>
              <a:rPr lang="en-GB" sz="2000" i="1" dirty="0" smtClean="0"/>
              <a:t>TX</a:t>
            </a:r>
          </a:p>
          <a:p>
            <a:pPr marL="457200" indent="-457200">
              <a:buFont typeface="+mj-lt"/>
              <a:buAutoNum type="arabicPeriod"/>
            </a:pPr>
            <a:r>
              <a:rPr lang="en-GB" sz="2000" i="1" dirty="0" smtClean="0"/>
              <a:t>Write</a:t>
            </a:r>
            <a:r>
              <a:rPr lang="en-GB" sz="2000" i="1" dirty="0"/>
              <a:t>: Control Register 1 to enable MST (master mode)</a:t>
            </a:r>
          </a:p>
          <a:p>
            <a:pPr marL="457200" indent="-457200">
              <a:buFont typeface="+mj-lt"/>
              <a:buAutoNum type="arabicPeriod"/>
            </a:pPr>
            <a:r>
              <a:rPr lang="en-GB" sz="2000" i="1" dirty="0" smtClean="0"/>
              <a:t>Write</a:t>
            </a:r>
            <a:r>
              <a:rPr lang="en-GB" sz="2000" i="1" dirty="0"/>
              <a:t>: Data register with the address of the target </a:t>
            </a:r>
            <a:r>
              <a:rPr lang="en-GB" sz="2000" i="1" dirty="0" smtClean="0"/>
              <a:t>slave</a:t>
            </a:r>
            <a:endParaRPr lang="en-US" sz="2000" i="1"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34</a:t>
            </a:fld>
            <a:endParaRPr lang="en-US"/>
          </a:p>
        </p:txBody>
      </p:sp>
    </p:spTree>
    <p:extLst>
      <p:ext uri="{BB962C8B-B14F-4D97-AF65-F5344CB8AC3E}">
        <p14:creationId xmlns:p14="http://schemas.microsoft.com/office/powerpoint/2010/main" val="3698682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000" dirty="0" smtClean="0"/>
              <a:t>Further study</a:t>
            </a:r>
            <a:endParaRPr lang="en-US" sz="3000" dirty="0"/>
          </a:p>
        </p:txBody>
      </p:sp>
      <p:sp>
        <p:nvSpPr>
          <p:cNvPr id="3" name="Content Placeholder 2"/>
          <p:cNvSpPr>
            <a:spLocks noGrp="1"/>
          </p:cNvSpPr>
          <p:nvPr>
            <p:ph idx="1"/>
          </p:nvPr>
        </p:nvSpPr>
        <p:spPr/>
        <p:txBody>
          <a:bodyPr>
            <a:normAutofit/>
          </a:bodyPr>
          <a:lstStyle/>
          <a:p>
            <a:r>
              <a:rPr lang="en-GB" sz="2000" i="1" dirty="0" smtClean="0"/>
              <a:t>I2C Ultra-fast mode</a:t>
            </a:r>
          </a:p>
          <a:p>
            <a:r>
              <a:rPr lang="en-GB" sz="2000" i="1" dirty="0" smtClean="0"/>
              <a:t>I3C</a:t>
            </a:r>
          </a:p>
          <a:p>
            <a:r>
              <a:rPr lang="en-GB" sz="2000" i="1" dirty="0" err="1" smtClean="0"/>
              <a:t>SMBus</a:t>
            </a:r>
            <a:endParaRPr lang="en-US" sz="2000" i="1" dirty="0"/>
          </a:p>
          <a:p>
            <a:r>
              <a:rPr lang="en-GB" sz="2000" i="1" dirty="0" err="1" smtClean="0"/>
              <a:t>PMBus</a:t>
            </a:r>
            <a:endParaRPr lang="en-GB" sz="2000" i="1" dirty="0" smtClean="0"/>
          </a:p>
          <a:p>
            <a:r>
              <a:rPr lang="en-GB" sz="2000" i="1" dirty="0" smtClean="0"/>
              <a:t>IPMI</a:t>
            </a:r>
          </a:p>
          <a:p>
            <a:r>
              <a:rPr lang="en-GB" sz="2000" i="1" dirty="0" smtClean="0"/>
              <a:t>ATCA</a:t>
            </a:r>
          </a:p>
          <a:p>
            <a:r>
              <a:rPr lang="en-GB" sz="2000" i="1" dirty="0" smtClean="0"/>
              <a:t>DDC</a:t>
            </a:r>
            <a:endParaRPr lang="en-US" sz="2000" i="1" dirty="0"/>
          </a:p>
        </p:txBody>
      </p:sp>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35</a:t>
            </a:fld>
            <a:endParaRPr lang="en-US"/>
          </a:p>
        </p:txBody>
      </p:sp>
    </p:spTree>
    <p:extLst>
      <p:ext uri="{BB962C8B-B14F-4D97-AF65-F5344CB8AC3E}">
        <p14:creationId xmlns:p14="http://schemas.microsoft.com/office/powerpoint/2010/main" val="716764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latin typeface="Arial" panose="020B0604020202020204" pitchFamily="34" charset="0"/>
                <a:cs typeface="Arial" panose="020B0604020202020204" pitchFamily="34" charset="0"/>
              </a:rPr>
              <a:t>References</a:t>
            </a:r>
            <a:endParaRPr lang="en-US" sz="30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marL="457200" indent="-457200" algn="just">
              <a:buFont typeface="+mj-lt"/>
              <a:buAutoNum type="arabicPeriod"/>
            </a:pPr>
            <a:r>
              <a:rPr lang="en-US" altLang="en-US" sz="2200" i="1" dirty="0" smtClean="0"/>
              <a:t>NXP - UM10204 - </a:t>
            </a:r>
            <a:r>
              <a:rPr lang="en-GB" altLang="en-US" sz="2200" i="1" dirty="0"/>
              <a:t>I2C-bus specification and user </a:t>
            </a:r>
            <a:r>
              <a:rPr lang="en-GB" altLang="en-US" sz="2200" i="1" dirty="0" smtClean="0"/>
              <a:t>manual </a:t>
            </a:r>
            <a:r>
              <a:rPr lang="en-GB" altLang="en-US" sz="2200" i="1" dirty="0"/>
              <a:t>- Rev. 6 </a:t>
            </a:r>
            <a:r>
              <a:rPr lang="en-GB" altLang="en-US" sz="2200" i="1" dirty="0" smtClean="0"/>
              <a:t>- </a:t>
            </a:r>
            <a:r>
              <a:rPr lang="en-GB" altLang="en-US" sz="2200" i="1" dirty="0"/>
              <a:t>4 April </a:t>
            </a:r>
            <a:r>
              <a:rPr lang="en-GB" altLang="en-US" sz="2200" i="1" dirty="0" smtClean="0"/>
              <a:t>2014</a:t>
            </a:r>
          </a:p>
          <a:p>
            <a:pPr marL="457200" indent="-457200" algn="just">
              <a:buFont typeface="+mj-lt"/>
              <a:buAutoNum type="arabicPeriod"/>
            </a:pPr>
            <a:r>
              <a:rPr lang="en-US" altLang="en-US" sz="2200" i="1" dirty="0" smtClean="0"/>
              <a:t>TI - SLVA704 </a:t>
            </a:r>
            <a:r>
              <a:rPr lang="en-US" altLang="en-US" sz="2200" i="1" dirty="0"/>
              <a:t>- Understanding the I2C Bus - June </a:t>
            </a:r>
            <a:r>
              <a:rPr lang="en-US" altLang="en-US" sz="2200" i="1" dirty="0" smtClean="0"/>
              <a:t>2015</a:t>
            </a:r>
          </a:p>
          <a:p>
            <a:pPr marL="457200" indent="-457200" algn="just">
              <a:buFont typeface="+mj-lt"/>
              <a:buAutoNum type="arabicPeriod"/>
            </a:pPr>
            <a:r>
              <a:rPr lang="en-US" altLang="en-US" sz="2200" i="1" dirty="0"/>
              <a:t>Philips Semiconductors - AN10216-01 - </a:t>
            </a:r>
            <a:r>
              <a:rPr lang="en-US" altLang="en-US" sz="2200" i="1" dirty="0" smtClean="0"/>
              <a:t>I2C Manual – March 24, 2003</a:t>
            </a:r>
          </a:p>
          <a:p>
            <a:pPr marL="457200" indent="-457200" algn="just">
              <a:buFont typeface="+mj-lt"/>
              <a:buAutoNum type="arabicPeriod"/>
            </a:pPr>
            <a:r>
              <a:rPr lang="en-US" altLang="en-US" sz="2200" i="1" dirty="0"/>
              <a:t>TI </a:t>
            </a:r>
            <a:r>
              <a:rPr lang="en-US" altLang="en-US" sz="2200" i="1" dirty="0" smtClean="0"/>
              <a:t>– SLVA689 </a:t>
            </a:r>
            <a:r>
              <a:rPr lang="en-US" altLang="en-US" sz="2200" i="1" dirty="0"/>
              <a:t>- </a:t>
            </a:r>
            <a:r>
              <a:rPr lang="en-GB" altLang="en-US" sz="2200" i="1" dirty="0" smtClean="0"/>
              <a:t>I2C </a:t>
            </a:r>
            <a:r>
              <a:rPr lang="en-GB" altLang="en-US" sz="2200" i="1" dirty="0"/>
              <a:t>Bus </a:t>
            </a:r>
            <a:r>
              <a:rPr lang="en-GB" altLang="en-US" sz="2200" i="1" dirty="0" err="1"/>
              <a:t>Pullup</a:t>
            </a:r>
            <a:r>
              <a:rPr lang="en-GB" altLang="en-US" sz="2200" i="1" dirty="0"/>
              <a:t> Resistor </a:t>
            </a:r>
            <a:r>
              <a:rPr lang="en-GB" altLang="en-US" sz="2200" i="1" dirty="0" smtClean="0"/>
              <a:t>Calculation – Feb 2015</a:t>
            </a:r>
          </a:p>
          <a:p>
            <a:pPr marL="457200" indent="-457200" algn="just">
              <a:buFont typeface="+mj-lt"/>
              <a:buAutoNum type="arabicPeriod"/>
            </a:pPr>
            <a:r>
              <a:rPr lang="en-GB" altLang="en-US" sz="2200" i="1" dirty="0" smtClean="0"/>
              <a:t>NXP </a:t>
            </a:r>
            <a:r>
              <a:rPr lang="en-GB" altLang="en-US" sz="2200" i="1" dirty="0"/>
              <a:t>- KL46 Sub-Family Reference </a:t>
            </a:r>
            <a:r>
              <a:rPr lang="en-GB" altLang="en-US" sz="2200" i="1" dirty="0" smtClean="0"/>
              <a:t>Manual </a:t>
            </a:r>
            <a:r>
              <a:rPr lang="en-GB" altLang="en-US" sz="2200" i="1" dirty="0"/>
              <a:t>- Rev. 3, July </a:t>
            </a:r>
            <a:r>
              <a:rPr lang="en-GB" altLang="en-US" sz="2200" i="1" dirty="0" smtClean="0"/>
              <a:t>2013</a:t>
            </a:r>
          </a:p>
          <a:p>
            <a:pPr marL="457200" indent="-457200" algn="just">
              <a:buFont typeface="+mj-lt"/>
              <a:buAutoNum type="arabicPeriod"/>
            </a:pPr>
            <a:r>
              <a:rPr lang="en-GB" altLang="en-US" sz="2200" i="1" dirty="0" smtClean="0"/>
              <a:t>NXP – I2C for </a:t>
            </a:r>
            <a:r>
              <a:rPr lang="en-GB" altLang="en-US" sz="2200" i="1" dirty="0" err="1" smtClean="0"/>
              <a:t>Kinetis</a:t>
            </a:r>
            <a:r>
              <a:rPr lang="en-GB" altLang="en-US" sz="2200" i="1" dirty="0" smtClean="0"/>
              <a:t> MCUs</a:t>
            </a:r>
            <a:endParaRPr lang="en-US" altLang="en-US" sz="2200" i="1" dirty="0"/>
          </a:p>
        </p:txBody>
      </p:sp>
      <p:sp>
        <p:nvSpPr>
          <p:cNvPr id="3" name="Date Placeholder 2"/>
          <p:cNvSpPr>
            <a:spLocks noGrp="1"/>
          </p:cNvSpPr>
          <p:nvPr>
            <p:ph type="dt" sz="half" idx="10"/>
          </p:nvPr>
        </p:nvSpPr>
        <p:spPr/>
        <p:txBody>
          <a:bodyPr/>
          <a:lstStyle/>
          <a:p>
            <a:fld id="{1CBC62ED-C7B4-41BF-990C-3909E43156E6}" type="datetime1">
              <a:rPr lang="en-US" smtClean="0"/>
              <a:t>5/2/2021</a:t>
            </a:fld>
            <a:endParaRPr lang="en-US"/>
          </a:p>
        </p:txBody>
      </p:sp>
      <p:sp>
        <p:nvSpPr>
          <p:cNvPr id="7"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36</a:t>
            </a:fld>
            <a:endParaRPr lang="en-US"/>
          </a:p>
        </p:txBody>
      </p:sp>
    </p:spTree>
    <p:extLst>
      <p:ext uri="{BB962C8B-B14F-4D97-AF65-F5344CB8AC3E}">
        <p14:creationId xmlns:p14="http://schemas.microsoft.com/office/powerpoint/2010/main" val="39000169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latin typeface="Arial" panose="020B0604020202020204" pitchFamily="34" charset="0"/>
                <a:cs typeface="Arial" panose="020B0604020202020204" pitchFamily="34" charset="0"/>
              </a:rPr>
              <a:t>Lesson Summary</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lnSpcReduction="10000"/>
          </a:bodyPr>
          <a:lstStyle/>
          <a:p>
            <a:pPr algn="just"/>
            <a:r>
              <a:rPr lang="en-GB" altLang="en-US" i="1" dirty="0" smtClean="0"/>
              <a:t>Introduction to I2C</a:t>
            </a:r>
          </a:p>
          <a:p>
            <a:pPr lvl="1" algn="just"/>
            <a:r>
              <a:rPr lang="en-GB" altLang="en-US" i="1" dirty="0" smtClean="0"/>
              <a:t>Open-drain pin</a:t>
            </a:r>
          </a:p>
          <a:p>
            <a:pPr lvl="1" algn="just"/>
            <a:r>
              <a:rPr lang="en-GB" altLang="en-US" i="1" dirty="0" smtClean="0"/>
              <a:t>Pull-up resistor</a:t>
            </a:r>
          </a:p>
          <a:p>
            <a:pPr lvl="1" algn="just"/>
            <a:r>
              <a:rPr lang="en-GB" altLang="en-US" i="1" dirty="0" smtClean="0"/>
              <a:t>Arbitration</a:t>
            </a:r>
          </a:p>
          <a:p>
            <a:pPr lvl="1" algn="just"/>
            <a:r>
              <a:rPr lang="en-GB" altLang="en-US" i="1" dirty="0" smtClean="0"/>
              <a:t>Handshake, Plug-play</a:t>
            </a:r>
          </a:p>
          <a:p>
            <a:pPr lvl="1" algn="just"/>
            <a:r>
              <a:rPr lang="en-GB" altLang="en-US" i="1" dirty="0" smtClean="0"/>
              <a:t>…</a:t>
            </a:r>
          </a:p>
          <a:p>
            <a:pPr algn="just"/>
            <a:r>
              <a:rPr lang="en-GB" altLang="en-US" sz="2400" i="1" dirty="0" smtClean="0">
                <a:latin typeface="Arial" panose="020B0604020202020204" pitchFamily="34" charset="0"/>
                <a:cs typeface="Arial" panose="020B0604020202020204" pitchFamily="34" charset="0"/>
              </a:rPr>
              <a:t>Freedom KL46 I2C</a:t>
            </a:r>
            <a:endParaRPr lang="en-US" altLang="en-US" i="1" dirty="0"/>
          </a:p>
          <a:p>
            <a:pPr lvl="1" algn="just"/>
            <a:r>
              <a:rPr lang="en-GB" altLang="en-US" i="1" dirty="0" smtClean="0"/>
              <a:t>Block diagram</a:t>
            </a:r>
          </a:p>
          <a:p>
            <a:pPr lvl="1" algn="just"/>
            <a:r>
              <a:rPr lang="en-GB" altLang="en-US" i="1" dirty="0" smtClean="0">
                <a:latin typeface="Arial" panose="020B0604020202020204" pitchFamily="34" charset="0"/>
                <a:cs typeface="Arial" panose="020B0604020202020204" pitchFamily="34" charset="0"/>
              </a:rPr>
              <a:t>Initialization</a:t>
            </a:r>
          </a:p>
          <a:p>
            <a:pPr lvl="1" algn="just"/>
            <a:r>
              <a:rPr lang="en-GB" altLang="en-US" i="1" dirty="0" smtClean="0"/>
              <a:t>…</a:t>
            </a:r>
            <a:endParaRPr lang="en-US" altLang="en-US" i="1"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EA9862C2-9A3A-4A99-B55C-4814DDFFAC13}" type="datetime1">
              <a:rPr lang="en-US" smtClean="0"/>
              <a:t>5/2/2021</a:t>
            </a:fld>
            <a:endParaRPr lang="en-US"/>
          </a:p>
        </p:txBody>
      </p:sp>
      <p:sp>
        <p:nvSpPr>
          <p:cNvPr id="7"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37</a:t>
            </a:fld>
            <a:endParaRPr lang="en-US"/>
          </a:p>
        </p:txBody>
      </p:sp>
    </p:spTree>
    <p:extLst>
      <p:ext uri="{BB962C8B-B14F-4D97-AF65-F5344CB8AC3E}">
        <p14:creationId xmlns:p14="http://schemas.microsoft.com/office/powerpoint/2010/main" val="3016629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smtClean="0"/>
              <a:t>Q&amp;A</a:t>
            </a:r>
            <a:endParaRPr lang="en-US" sz="2400"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0779" y="849313"/>
            <a:ext cx="5617368" cy="3744912"/>
          </a:xfrm>
        </p:spPr>
      </p:pic>
      <p:sp>
        <p:nvSpPr>
          <p:cNvPr id="4" name="Date Placeholder 3"/>
          <p:cNvSpPr>
            <a:spLocks noGrp="1"/>
          </p:cNvSpPr>
          <p:nvPr>
            <p:ph type="dt" sz="half" idx="10"/>
          </p:nvPr>
        </p:nvSpPr>
        <p:spPr/>
        <p:txBody>
          <a:bodyPr/>
          <a:lstStyle/>
          <a:p>
            <a:fld id="{1F45074E-53EC-4432-BF9B-A29996D62E7F}" type="datetime1">
              <a:rPr lang="en-US" smtClean="0"/>
              <a:t>5/2/2021</a:t>
            </a:fld>
            <a:endParaRPr lang="en-US"/>
          </a:p>
        </p:txBody>
      </p:sp>
      <p:sp>
        <p:nvSpPr>
          <p:cNvPr id="5" name="Footer Placeholder 4"/>
          <p:cNvSpPr>
            <a:spLocks noGrp="1"/>
          </p:cNvSpPr>
          <p:nvPr>
            <p:ph type="ftr" sz="quarter" idx="11"/>
          </p:nvPr>
        </p:nvSpPr>
        <p:spPr/>
        <p:txBody>
          <a:bodyPr/>
          <a:lstStyle/>
          <a:p>
            <a:r>
              <a:rPr lang="en-US" smtClean="0"/>
              <a:t>09e-BM/DT/FSOFT - ©FPT SOFTWARE – Fresher Academy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38</a:t>
            </a:fld>
            <a:endParaRPr lang="en-US"/>
          </a:p>
        </p:txBody>
      </p:sp>
    </p:spTree>
    <p:extLst>
      <p:ext uri="{BB962C8B-B14F-4D97-AF65-F5344CB8AC3E}">
        <p14:creationId xmlns:p14="http://schemas.microsoft.com/office/powerpoint/2010/main" val="1578388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6600" dirty="0" smtClean="0">
                <a:solidFill>
                  <a:schemeClr val="accent6">
                    <a:lumMod val="75000"/>
                  </a:schemeClr>
                </a:solidFill>
                <a:cs typeface="Arial"/>
              </a:rPr>
              <a:t>Thank you</a:t>
            </a:r>
            <a:endParaRPr lang="en-US" sz="6600" dirty="0">
              <a:solidFill>
                <a:schemeClr val="accent6">
                  <a:lumMod val="75000"/>
                </a:schemeClr>
              </a:solidFill>
              <a:cs typeface="Arial"/>
            </a:endParaRPr>
          </a:p>
        </p:txBody>
      </p:sp>
      <p:sp>
        <p:nvSpPr>
          <p:cNvPr id="3" name="Date Placeholder 2"/>
          <p:cNvSpPr>
            <a:spLocks noGrp="1"/>
          </p:cNvSpPr>
          <p:nvPr>
            <p:ph type="dt" sz="half" idx="10"/>
          </p:nvPr>
        </p:nvSpPr>
        <p:spPr/>
        <p:txBody>
          <a:bodyPr/>
          <a:lstStyle/>
          <a:p>
            <a:fld id="{A6E310CF-D8EB-4339-A038-1E0E0D4A410F}" type="datetime1">
              <a:rPr lang="en-US" smtClean="0"/>
              <a:t>5/2/2021</a:t>
            </a:fld>
            <a:endParaRPr lang="en-US"/>
          </a:p>
        </p:txBody>
      </p:sp>
      <p:sp>
        <p:nvSpPr>
          <p:cNvPr id="6" name="Footer Placeholder 3"/>
          <p:cNvSpPr>
            <a:spLocks noGrp="1"/>
          </p:cNvSpPr>
          <p:nvPr>
            <p:ph type="ftr" sz="quarter" idx="11"/>
          </p:nvPr>
        </p:nvSpPr>
        <p:spPr/>
        <p:txBody>
          <a:bodyPr/>
          <a:lstStyle/>
          <a:p>
            <a:r>
              <a:rPr lang="en-US" smtClean="0"/>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39</a:t>
            </a:fld>
            <a:endParaRPr lang="en-US" dirty="0"/>
          </a:p>
        </p:txBody>
      </p:sp>
    </p:spTree>
    <p:extLst>
      <p:ext uri="{BB962C8B-B14F-4D97-AF65-F5344CB8AC3E}">
        <p14:creationId xmlns:p14="http://schemas.microsoft.com/office/powerpoint/2010/main" val="3906525621"/>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_Internal_Cour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1361</TotalTime>
  <Words>2084</Words>
  <Application>Microsoft Office PowerPoint</Application>
  <PresentationFormat>On-screen Show (16:9)</PresentationFormat>
  <Paragraphs>354</Paragraphs>
  <Slides>39</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Symbol</vt:lpstr>
      <vt:lpstr>Wingdings</vt:lpstr>
      <vt:lpstr>Template_Internal_Course</vt:lpstr>
      <vt:lpstr>Embedded System Course</vt:lpstr>
      <vt:lpstr>Guideline for training material development in Powerpoint format (please delete this slide after completing the material)</vt:lpstr>
      <vt:lpstr>Lesson Objectives</vt:lpstr>
      <vt:lpstr>Table of contents</vt:lpstr>
      <vt:lpstr>Requirements and Problems</vt:lpstr>
      <vt:lpstr>Requirements and Problems</vt:lpstr>
      <vt:lpstr>Requirements and Problems</vt:lpstr>
      <vt:lpstr>Problem #1</vt:lpstr>
      <vt:lpstr>Problem #1</vt:lpstr>
      <vt:lpstr>Solution #1</vt:lpstr>
      <vt:lpstr>Solution #1</vt:lpstr>
      <vt:lpstr>Solution #1</vt:lpstr>
      <vt:lpstr>Problem #2</vt:lpstr>
      <vt:lpstr>Solution #2</vt:lpstr>
      <vt:lpstr>Problem #3</vt:lpstr>
      <vt:lpstr>Solution #3</vt:lpstr>
      <vt:lpstr>PowerPoint Presentation</vt:lpstr>
      <vt:lpstr>Inter integrated circuit introduction</vt:lpstr>
      <vt:lpstr>Inter integrated circuit introduction</vt:lpstr>
      <vt:lpstr>Data</vt:lpstr>
      <vt:lpstr>Start and Stop </vt:lpstr>
      <vt:lpstr>ACK and NACK</vt:lpstr>
      <vt:lpstr>Data transmission</vt:lpstr>
      <vt:lpstr>Data reception</vt:lpstr>
      <vt:lpstr>I2C procedure</vt:lpstr>
      <vt:lpstr>Pull-up resistor</vt:lpstr>
      <vt:lpstr>Section 1: Summary</vt:lpstr>
      <vt:lpstr>Section #1: Q&amp;A</vt:lpstr>
      <vt:lpstr>Freedom KL46 I2C introduction</vt:lpstr>
      <vt:lpstr>KL46 I2C main features</vt:lpstr>
      <vt:lpstr>I2C interconnections</vt:lpstr>
      <vt:lpstr>I2C functional block diagram</vt:lpstr>
      <vt:lpstr>Initialization</vt:lpstr>
      <vt:lpstr>Initialization</vt:lpstr>
      <vt:lpstr>Further study</vt:lpstr>
      <vt:lpstr>References</vt:lpstr>
      <vt:lpstr>Lesson Summary</vt:lpstr>
      <vt:lpstr>Q&amp;A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 Tuan Linh (FHO.FWA)</dc:creator>
  <cp:lastModifiedBy>Tran Van Tung (GAM.VN.DAP)</cp:lastModifiedBy>
  <cp:revision>113</cp:revision>
  <dcterms:created xsi:type="dcterms:W3CDTF">2015-08-31T01:44:46Z</dcterms:created>
  <dcterms:modified xsi:type="dcterms:W3CDTF">2021-05-02T11:41:06Z</dcterms:modified>
</cp:coreProperties>
</file>